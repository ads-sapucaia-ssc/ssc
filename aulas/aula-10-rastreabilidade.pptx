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7CB342"/>
                </a:solidFill>
                <a:latin typeface="Open Sans"/>
              </a:rPr>
              <a:t>Aula 10 — Rastreabilidade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Matriz, métricas e fechamento do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Traceability · Metrics · V&amp;V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Rastreabilidade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Ligar requisito -&gt; ameaça -&gt; teste -&gt; evidência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Matriz de rastreabilidade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Bidirecional — linha sem teste = não verificado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REQ-AC-01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Validar ownership no acesso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ASVS V4 · TC-IDOR-01 ·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REQ-CR-02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Cifrar PII em repouso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LGPD art. 46 · TC-CRYPTO · 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REQ-LOG-03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Log assinado de autenticação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PCI-DSS 10 · TC-LOG · em curso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Mapa a frameworks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Requisito ganha força quando mapeado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OWASP ASVS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catálogo verificável (L1/L2/L3)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NIST 800-53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famílias AC, AU, IA, 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ISO 27001:2022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Anexo A · 93 controles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NIST SSDF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liga ao ciclo (PO/PS/PW/RV)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Métricas e V&amp;V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O ciclo fecha?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Métricas do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Tornar segurança mensurável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% ameaças com controle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cobertura do threat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% requisitos com teste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verificação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% ameaças de privacidade mitigadas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cobertura LINDDUN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Gates verdes /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o placar do semestre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Anti-padrões ×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Onde os requisitos costumam falhar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Armadilhas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Requisito vago, não testável.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Segurança só no fim.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Solução sem o porquê.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Sem dono e sem rastreabilidade.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Boas práticas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Requisitos SMART e testáveis.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Elicitar cedo (custo 500× menor).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Vincular requisito -&gt; ameaça -&gt; teste.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Rastreabilidade viva.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Fechamento (Fase 8 + defesa)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Rastreabilidade, métricas e defesa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Matriz completa: </a:t>
            </a:r>
            <a:r>
              <a:rPr sz="1800">
                <a:solidFill>
                  <a:srgbClr val="212121"/>
                </a:solidFill>
                <a:latin typeface="Open Sans"/>
              </a:rPr>
              <a:t>ativo -&gt; ameaça -&gt; requisito -&gt; controle -&gt; teste -&gt; evidência.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Métricas: </a:t>
            </a:r>
            <a:r>
              <a:rPr sz="1800">
                <a:solidFill>
                  <a:srgbClr val="212121"/>
                </a:solidFill>
                <a:latin typeface="Open Sans"/>
              </a:rPr>
              <a:t>calcule as coberturas e o risco residual.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Defesa: </a:t>
            </a:r>
            <a:r>
              <a:rPr sz="1800">
                <a:solidFill>
                  <a:srgbClr val="212121"/>
                </a:solidFill>
                <a:latin typeface="Open Sans"/>
              </a:rPr>
              <a:t>feche o fio ao vivo, partindo de um ativo.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Fio completo: </a:t>
            </a:r>
            <a:r>
              <a:rPr sz="1800">
                <a:solidFill>
                  <a:srgbClr val="212121"/>
                </a:solidFill>
                <a:latin typeface="Open Sans"/>
              </a:rPr>
              <a:t>laudo -&gt; IDOR -&gt; REQ-AC-01 -&gt; 403 -&gt; evidência do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