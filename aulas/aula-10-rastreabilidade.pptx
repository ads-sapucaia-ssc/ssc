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Aula 10. Fechamos o ciclo: a matriz de rastreabilidade prova que cada controle existe por uma razão e foi testado; as métricas tornam a segurança mensurável. Entregável: matriz completa + métricas + defesa (Fase 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matriz garante que cada requisito foi implementado E testado, e que cada controle existe por uma razão. É bidirecional: do requisito ao teste (o controle foi verificado?) e do código ao requisito (por que este controle existe?). Uma linha sem teste = requisito NÃO verificado — é onde mora o risco residual.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Mapear o requisito a catálogos reconhecidos facilita demonstrar conformidade a auditores. O fio completo estendido: REQ -&gt; ameaça (STRIDE/LINDDUN) -&gt; LGPD/ASVS -&gt; NIST 800-53 -&gt; ISO 27001. Ex.: REQ-AUTH-03 -&gt; Spoofing -&gt; LGPD art.46/ASVS V2 -&gt; ISO A.5.17. Basta acrescentar colunas de origem na matriz.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Métricas transformam segurança de 'a gente é seguro' (sem evidência) em algo objetivo. As de cobertura mostram lacunas: se 100% das ameaças têm controle mas só 50% dos requisitos têm teste, sei onde investir. O 'placar de gates verdes' é a métrica-mestra do progresso do grupo ao longo do semestre.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Fechamento: os erros mais comuns e como evitá-los. O pior antipadrão é o requisito vago ('ser seguro') que ninguém consegue testar; o segundo é 'segurança no fim'. As boas práticas são o oposto — e são exatamente o que a rubrica da disciplina premia (e penaliza os antipadrões).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fechamento do projeto: matriz completa, métricas calculadas e a defesa. Na defesa, o grupo escolhe UM ativo e percorre o fio completo ao vivo — do dado sensível à evidência do teste — mostrando que domina o ciclo de engenharia de segurança e privacidade. É a síntese de tudo: requisito bem-feito = ativo + ameaça + atributo + critério verificável + rastreabilidade.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33172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400" b="1" i="0">
                <a:solidFill>
                  <a:srgbClr val="7CB342"/>
                </a:solidFill>
                <a:latin typeface="Open Sans"/>
              </a:rPr>
              <a:t>Aula 10 — Rastreabilidade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D7A3D"/>
                </a:solidFill>
                <a:latin typeface="Open Sans"/>
              </a:rPr>
              <a:t>Matriz, métricas e fechamento do ciclo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616161"/>
                </a:solidFill>
                <a:latin typeface="Open Sans"/>
              </a:rPr>
              <a:t>Traceability · Metrics · V&amp;V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480060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616161"/>
                </a:solidFill>
                <a:latin typeface="Open Sans"/>
              </a:rPr>
              <a:t>TADS · Segurança em Sistemas Computacionais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Prof. Dr. Alex Mulattieri Suarez Orozco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Rastreabilidade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Ligar requisito -&gt; ameaça -&gt; teste -&gt; evidência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Matriz de rastreabilidade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Bidirecional — linha sem teste = não verificado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REQ-AC-01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099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Validar ownership no acesso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282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ASVS V4 · TC-IDOR-01 · OK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REQ-CR-02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514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Cifrar PII em repouso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LGPD art. 46 · TC-CRYPTO · OK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118103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REQ-LOG-03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319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Log assinado de autenticação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59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PCI-DSS 10 · TC-LOG · em curso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Mapa a frameworks de controle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requisito ganha força quando mapeado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OWASP ASVS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catálogo verificável (L1/L2/L3)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NIST 800-53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famílias de controle: AC, AU, IA, SC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ISO 27001:2022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Anexo A · 93 controles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NIST SSDF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liga os requisitos ao ciclo (PO/PS/PW/RV)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Métricas e V&amp;V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O ciclo fecha?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Métricas do processo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Tornar a segurança mensurável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% ameaças com controle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cobertura do threat 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% requisitos com teste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cobertura de verificação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% ameaças de privacidade mitigadas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cobertura do LINDDUN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Gates verdes / 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o placar objetivo do semestre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Anti-padrões × Boas práticas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Onde os requisitos costumam falhar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54480"/>
            <a:ext cx="5486400" cy="640080"/>
          </a:xfrm>
          <a:prstGeom prst="roundRect">
            <a:avLst/>
          </a:prstGeom>
          <a:solidFill>
            <a:srgbClr val="424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Armadilhas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Requisito vago, não testável.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Segurança só no fim (sem shift left).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Solução sem o porquê.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Sem dono e sem rastreabilidade.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486400" cy="640080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Boas práticas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Requisitos SMART e testáveis.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Elicitar cedo (custo 500× menor).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Vincular requisito -&gt; ameaça -&gt; teste.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Rastreabilidade viva; cobrir CIA+AAN.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No VidaPlus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Fechamento (Fase 8 + defesa)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Entregável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Rastreabilidade, métricas e defesa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Matriz completa: </a:t>
            </a:r>
            <a:r>
              <a:rPr sz="1800">
                <a:solidFill>
                  <a:srgbClr val="212121"/>
                </a:solidFill>
                <a:latin typeface="Open Sans"/>
              </a:rPr>
              <a:t>ativo -&gt; ameaça -&gt; requisito -&gt; controle -&gt; teste -&gt; evidência.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Métricas: </a:t>
            </a:r>
            <a:r>
              <a:rPr sz="1800">
                <a:solidFill>
                  <a:srgbClr val="212121"/>
                </a:solidFill>
                <a:latin typeface="Open Sans"/>
              </a:rPr>
              <a:t>calcule as coberturas e avalie o risco residual.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Defesa: </a:t>
            </a:r>
            <a:r>
              <a:rPr sz="1800">
                <a:solidFill>
                  <a:srgbClr val="212121"/>
                </a:solidFill>
                <a:latin typeface="Open Sans"/>
              </a:rPr>
              <a:t>feche o fio ao vivo, partindo de um ativo.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Fio completo: </a:t>
            </a:r>
            <a:r>
              <a:rPr sz="1800">
                <a:solidFill>
                  <a:srgbClr val="212121"/>
                </a:solidFill>
                <a:latin typeface="Open Sans"/>
              </a:rPr>
              <a:t>laudo -&gt; IDOR -&gt; REQ-AC-01 -&gt; 403 -&gt; evidência do CI.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548640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800" b="1" i="0">
                <a:solidFill>
                  <a:srgbClr val="7CB342"/>
                </a:solidFill>
                <a:latin typeface="Open Sans"/>
              </a:rPr>
              <a:t>Perguntas?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3977639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Prof. Dr. Alex Mulattieri Suarez Orozco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CCD7C0"/>
                </a:solidFill>
                <a:latin typeface="Open Sans"/>
              </a:rPr>
              <a:t>alexorozco@ifsul.edu.br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CD7C0"/>
                </a:solidFill>
                <a:latin typeface="Open Sans"/>
              </a:rPr>
              <a:t>IFSul · Câmpus Sapucaia do Sul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