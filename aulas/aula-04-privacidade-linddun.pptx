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4 — Privacidade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LINDDUN, Privacy by Design e RIPD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Privacy Threat Modeling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de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Privacidade também é requisito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Privacy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7 princípios de Cavoukian — base da LGPD/GDPR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607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39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Proativo, não reativo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39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antecipar o problema, não remediar depois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395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Privacidade por padrão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sem ação do usuário, o dado já está protegido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607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39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Embarcada no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39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não é 'add-on' — é parte da arquitetura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Funcionalidade total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privacidade não é trade-off; é win-win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607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39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Segurança fim a fim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39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proteção em todo o ciclo de vida do dado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7395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Visibilidade e transparência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titular sabe o que é tratado e por quê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498348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76072" y="515721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6072" y="523951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39" y="510235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Respeito ao usuário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39" y="548640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consentimento, acesso e eliminação sob controle do titular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6217920"/>
            <a:ext cx="11384280" cy="50292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6309359"/>
            <a:ext cx="11384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PbD é o método; a LGPD é a obrigação; o LINDDUN operacionaliza os dois (docs/03).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LINDDUN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 'STRIDE da privacidade'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LINDDUN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7 categorias de ameaça à privacidade do titular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607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39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Vinculação (Linking)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39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associar itens de dados ou ações ao mesmo titular ou grupo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395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Identificabilidade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revelar a identidade por vazamento, dedução ou inferência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607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39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Não-repúdio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39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atribuir uma ação/dado a alguém, retirando a negação plausível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Detectabilidade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deduzir que algo existe só por observação, sem ler o conteúdo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607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39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Divulgação de informação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39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coletar/guardar/compartilhar dado pessoal além do necessário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7395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Desconhecimento &amp; não-intervenção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titular não sabe do tratamento, ou não consegue agir sobre ele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498348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76072" y="515721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6072" y="523951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39" y="510235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Não-conformidade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39" y="548640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o sistema descumpre lei, norma ou boas práticas de segurança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6217920"/>
            <a:ext cx="11384280" cy="50292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6309359"/>
            <a:ext cx="11384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Cada categoria vira uma árvore de nós concretos — ver a seguir.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LINDDUN-per-element (exemplo)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Ameaça -&gt; controle/PET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Logs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Identificabilidade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gravam CPF -&gt; pseudonimizar (user_id opaco)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Download de laudo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Divulgação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IDOR -&gt; validar ownership no servidor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Busca de pacientes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Identificabilidade (I.2.3)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filtro estreito isola 1 registro -&gt; limitar campos no retorno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IDs sequenciais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Vinculação (Linking, L.1.1)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101, 102... -&gt; IDs nao sequenciais (UUID)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Banco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Não-conformidade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retenção infinita -&gt; política + anonimização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Da categoria ao nó-folha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Como funciona uma árvore de ameaças LINDDUN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Categoria (nível 1): </a:t>
            </a:r>
            <a:r>
              <a:rPr sz="1800">
                <a:solidFill>
                  <a:srgbClr val="212121"/>
                </a:solidFill>
                <a:latin typeface="Open Sans"/>
              </a:rPr>
              <a:t>a letra do LINDDUN — ex.: I de Identificabilidade.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Sub-ramo (nível 2): </a:t>
            </a:r>
            <a:r>
              <a:rPr sz="1800">
                <a:solidFill>
                  <a:srgbClr val="212121"/>
                </a:solidFill>
                <a:latin typeface="Open Sans"/>
              </a:rPr>
              <a:t>o "como" a ameaça acontece — ex.: I.1 dado já identificado vs. I.2 dado identificável.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Nó-folha (nível 3+): </a:t>
            </a:r>
            <a:r>
              <a:rPr sz="1800">
                <a:solidFill>
                  <a:srgbClr val="212121"/>
                </a:solidFill>
                <a:latin typeface="Open Sans"/>
              </a:rPr>
              <a:t>a forma concreta da ameaça, já catalogada com exemplos reais — ex.: I.2.3, titular distinguível dos demais.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Por que importa: </a:t>
            </a:r>
            <a:r>
              <a:rPr sz="1800">
                <a:solidFill>
                  <a:srgbClr val="212121"/>
                </a:solidFill>
                <a:latin typeface="Open Sans"/>
              </a:rPr>
              <a:t>nomear pelo nó-folha é preciso e rastreável; "tem um problema de privacidade" não é — a defesa cobra o nó certo.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Catálogo oficial: </a:t>
            </a:r>
            <a:r>
              <a:rPr sz="1800">
                <a:solidFill>
                  <a:srgbClr val="212121"/>
                </a:solidFill>
                <a:latin typeface="Open Sans"/>
              </a:rPr>
              <a:t>linddun.org/threat-trees reúne as 7 árvores completas, cada uma com dezenas de nós e exemplos reais documentados.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As 7 árvores oficiais do LINDDUN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Sub-ramos de 1º nível — catálogo completo em linddun.org/threat-trees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607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39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Vinculação (Linking)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39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L.1 vinculado (id único) · L.2 vinculável (combinação/perfil)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395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Identificabilidade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I.1 identificada · I.2 identificável (pseudônimo, atributo)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607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39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Não-repúdio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39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Nr.1 evidência atribuível · Nr.2 efeito colateral de ação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Detectabilidade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D.1 comunicação · D.2 efeito colateral · D.3 resposta do sistema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607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39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Divulgação de informação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39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DD.1 tipo · DD.2 volume · DD.3 processamento · DD.4 exposição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7395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Desconhecimento &amp; não-intervenção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U.1 desconhecimento · U.2 falta de controle (acesso, retificação)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498348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76072" y="515721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6072" y="523951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39" y="510235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Não-conformidade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39" y="548640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Nc.1 LGPD/GDPR · Nc.2 gestão de dados · Nc.3 risco de segurança · Nc.4 normas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6217920"/>
            <a:ext cx="11384280" cy="50292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6309359"/>
            <a:ext cx="11384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Cada nó-folha tem exemplos reais catalogados — dois deles, aplicados ao VidaPlus, a seguir.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Árvore Linking (L) — do nó ao exemplo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Vinculação: identificador único vs. combinação de dados (linddun.org)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L.1.1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Identificador único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user ID/e-mail reaproveitado liga toda atividade ao titular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L.2.1.1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Quase-identificador (combinação)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fingerprint ou local+idade+CEP isolam um indivíduo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L.2.2.1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Perfilamento por inferência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frequência de dados do wearable revela a condição do paciente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VidaPlus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F-02/F-13 — L.1.1 no VidaPlus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IDs sequenciais (101,102...) linkam exames do mesmo paciente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Árvore Identifying (I) — do nó ao exemplo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Identificabilidade: dado já identificado vs. identificável (linddun.org)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I.1.1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Dado identificado processado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cadastro pede nome/endereço, elimina navegação anônima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I.2.1.1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Pseudônimo / identificador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IP/username reaproveitado liga o dado à pessoa real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I.2.2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Atributos reveladores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formulário detalhado (local, cargo) já identifica sozinho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VidaPlus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F-13 — I.2.3 no VidaPlus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busca c/ filtro estreito (nome+CPF) isola 1 único registro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Controles de privacidade (PETs)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Da ameaça ao controle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Minimização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coletar só o dado necessário à finalidade (art. 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Pseudonimização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id opaco no lugar de CPF/nome (reversível com chave)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Anonimização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titular não identificável (irreversível)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Retenção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apagar/anonimizar após o prazo legal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RIPD / DPIA (LGPD art. 38)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LINDDUN alimenta o relatório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371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0" b="1" i="0">
                <a:solidFill>
                  <a:srgbClr val="7CB342"/>
                </a:solidFill>
                <a:latin typeface="Open Sans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194560"/>
            <a:ext cx="9601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2D7A3D"/>
                </a:solidFill>
                <a:latin typeface="Open Sans"/>
              </a:rPr>
              <a:t>Cada ameaça de privacidade do LINDDUN, com seu risco e a medida mitigadora, compõe o Relatório de Impacto à Proteção de Dados — exigido em tratamentos de alto risco.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616161"/>
                </a:solidFill>
                <a:latin typeface="Open Sans"/>
              </a:rPr>
              <a:t>LGPD art. 38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553212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2b)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Threat model de privacidade — LINDDUN + RIPD (dossiê §4)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Entregar: </a:t>
            </a:r>
            <a:r>
              <a:rPr sz="1800">
                <a:solidFill>
                  <a:srgbClr val="212121"/>
                </a:solidFill>
                <a:latin typeface="Open Sans"/>
              </a:rPr>
              <a:t>tabela LINDDUN-per-element sobre o mesmo DFD do STRIDE (§4.1).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Controle/PET: </a:t>
            </a:r>
            <a:r>
              <a:rPr sz="1800">
                <a:solidFill>
                  <a:srgbClr val="212121"/>
                </a:solidFill>
                <a:latin typeface="Open Sans"/>
              </a:rPr>
              <a:t>para cada ameaça, um controle (minimização/pseudonimização/…).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Minimização: </a:t>
            </a:r>
            <a:r>
              <a:rPr sz="1800">
                <a:solidFill>
                  <a:srgbClr val="212121"/>
                </a:solidFill>
                <a:latin typeface="Open Sans"/>
              </a:rPr>
              <a:t>aponte campos sem finalidade (ex.: religião, renda no cadastro).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RIPD: </a:t>
            </a:r>
            <a:r>
              <a:rPr sz="1800">
                <a:solidFill>
                  <a:srgbClr val="212121"/>
                </a:solidFill>
                <a:latin typeface="Open Sans"/>
              </a:rPr>
              <a:t>esboce o relatório a partir da tabela LINDDUN (§4.3).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toda ameaça de privacidade priorizada tem controle e requisito.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