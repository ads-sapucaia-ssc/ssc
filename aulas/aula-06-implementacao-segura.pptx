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6 (cobre as semanas 6-9). Agora corrigimos o código: as classes de falha do OWASP Top 10 e como remediá-las. Entregável: 1-2 controles corrigidos ponta-a-ponta (prova de conceito) + plano de remediação do restante (Fase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OWASP Top 10 é a lista das categorias de falha mais frequentes, revisada com base em milhões de aplicações. A01 (Broken Access Control) é o #1 — e é exatamente o IDOR do VidaPlus. Em 2025 surgiram A03 (Supply Chain) e A10 (Mishandling of Exceptional Conditions). Quase toda vulnerabilidade plantada no projeto cai em uma dessas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cada classe há um padrão de correção consagrado. Injection: nunca concatenar SQL — use parâmetros ('SELECT ... WHERE email = ?'). Access Control: valide no SERVIDOR que o recurso pertence ao usuário; nunca confie no cliente. Crypto: use primitivas modernas. Segredos: fora do código, em cofre/variável de ambiente.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Exemplo trabalhado do controle P0 mais importante do projeto. O legado confia no id vindo do cliente (IDOR). A correção é validar o OWNERSHIP no servidor antes de devolver o recurso; se não for do usuário, HTTP 403 — e a resposta não pode vazar metadados (nome do exame, tipo), senão vira enumeração. O RGS é o teste automatizado que prova o 403.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de corrigir falhas, alguns grupos criam módulos que a LGPD exige e não existem no legado. Consentimento: registro versionado e revogável. Portabilidade: exportar os dados do titular. Eliminação: anonimizar o prontuário (dever de guarda) e remover a credencial. Auditoria: trilha imutável encadeada por hash, sem PII no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remediação é PROVA DE CONCEITO: como a disciplina foca em processo, o grupo corrige poucos controles (1-2), mas ponta-a-ponta — do requisito à evidência. Para o restante das falhas do seu pacote, entrega um plano de remediação (o quê, como, esforço, prioridade), sem precisar codar. Trabalhe por Pull Request, com revisão por pares.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3172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7CB342"/>
                </a:solidFill>
                <a:latin typeface="Open Sans"/>
              </a:rPr>
              <a:t>Aula 6 — Implementação Segura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D7A3D"/>
                </a:solidFill>
                <a:latin typeface="Open Sans"/>
              </a:rPr>
              <a:t>OWASP Top 10 e remediação (prova de conceito)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16161"/>
                </a:solidFill>
                <a:latin typeface="Open Sans"/>
              </a:rPr>
              <a:t>Secure Coding · OWASP Top 10:2025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480060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16161"/>
                </a:solidFill>
                <a:latin typeface="Open Sans"/>
              </a:rPr>
              <a:t>TADS · Segurança em Sistemas Computacionais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Prof. Dr. Alex Mulattieri Suarez Orozco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OWASP Top 10:2025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As classes de falha mais comuns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OWASP Top 10:2025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As categorias (2 novas em 2025)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A01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099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Broken 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282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IDOR, RBAC ausente — #1 há 4 edições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13432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404872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A02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Security Misconfiguration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CORS aberto, headers ausentes, defaults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18103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209544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A03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31927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Software Supply Chain (NOVA)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5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dependências, proveniência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922775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014215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23943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A04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123943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Cryptographic Failures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42231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MD5, TLS fraco, segredos hardcoded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27448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818888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2861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A05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92861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Injection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4690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SQLi, XSS, comando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532119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5623559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733287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A07 / A09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5733287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Auth Failures / Logging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751575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sessão, rate limit / auditoria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Controles por classe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Como corrigir de verdade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Correções essenciais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Do padrão vulnerável ao seguro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D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D7A3D"/>
                </a:solidFill>
                <a:latin typeface="Open Sans"/>
              </a:rPr>
              <a:t>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consultas parametrizadas (prepared statements); allowlist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976D2"/>
                </a:solidFill>
                <a:latin typeface="Open Sans"/>
              </a:rPr>
              <a:t>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validar ownership no servidor; deny by default; RBAC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65100"/>
                </a:solidFill>
                <a:latin typeface="Open Sans"/>
              </a:rPr>
              <a:t>Crypto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Argon2id; TLS 1.3; AES-256-GCM; nunca MD5/SHA-1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B71C1C"/>
                </a:solidFill>
                <a:latin typeface="Open Sans"/>
              </a:rPr>
              <a:t>Segredos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cofre/variável de ambiente; secret scanning no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Exemplo: corrigir o IDOR (A01)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O padrão do VidaPlus (F-02)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Antes (vulnerável): </a:t>
            </a:r>
            <a:r>
              <a:rPr sz="1800">
                <a:solidFill>
                  <a:srgbClr val="212121"/>
                </a:solidFill>
                <a:latin typeface="Open Sans"/>
              </a:rPr>
              <a:t>GET /api/exames/{id} devolve qualquer exame.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Ataque: </a:t>
            </a:r>
            <a:r>
              <a:rPr sz="1800">
                <a:solidFill>
                  <a:srgbClr val="212121"/>
                </a:solidFill>
                <a:latin typeface="Open Sans"/>
              </a:rPr>
              <a:t>paciente A troca o id e baixa o exame do paciente B.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Correção: </a:t>
            </a:r>
            <a:r>
              <a:rPr sz="1800">
                <a:solidFill>
                  <a:srgbClr val="212121"/>
                </a:solidFill>
                <a:latin typeface="Open Sans"/>
              </a:rPr>
              <a:t>if (exame.pacienteId != usuarioAtual.id) return 403;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Fail-secure: </a:t>
            </a:r>
            <a:r>
              <a:rPr sz="1800">
                <a:solidFill>
                  <a:srgbClr val="212121"/>
                </a:solidFill>
                <a:latin typeface="Open Sans"/>
              </a:rPr>
              <a:t>deny by default; 403 sem vazar metadados do exame.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Garantia (RGS): </a:t>
            </a:r>
            <a:r>
              <a:rPr sz="1800">
                <a:solidFill>
                  <a:srgbClr val="212121"/>
                </a:solidFill>
                <a:latin typeface="Open Sans"/>
              </a:rPr>
              <a:t>teste anti-IDOR no CI — falha bloqueia o merge.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Módulos LGPD a criar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Direitos do titular viram código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D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D7A3D"/>
                </a:solidFill>
                <a:latin typeface="Open Sans"/>
              </a:rPr>
              <a:t>Consentimento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específico, versionado, revogável (art. 8/9)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976D2"/>
                </a:solidFill>
                <a:latin typeface="Open Sans"/>
              </a:rPr>
              <a:t>Portabilidade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exportar todos os dados do titular (art. 18)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7CB342"/>
                </a:solidFill>
                <a:latin typeface="Open Sans"/>
              </a:rPr>
              <a:t>Eliminação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excluir/anonimizar respeitando retenção (art. 18)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65100"/>
                </a:solidFill>
                <a:latin typeface="Open Sans"/>
              </a:rPr>
              <a:t>Auditoria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trilha append-only, sem PII, hash-chain (art. 37/46)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No VidaPlus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A etapa das próximas semanas (Fase 4)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Entregável da Fase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Remediação como prova de conceito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PoC: </a:t>
            </a:r>
            <a:r>
              <a:rPr sz="1800">
                <a:solidFill>
                  <a:srgbClr val="212121"/>
                </a:solidFill>
                <a:latin typeface="Open Sans"/>
              </a:rPr>
              <a:t>corrija 1-2 controles ponta-a-ponta (≥1 P0) num Pull Request.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Teste: </a:t>
            </a:r>
            <a:r>
              <a:rPr sz="1800">
                <a:solidFill>
                  <a:srgbClr val="212121"/>
                </a:solidFill>
                <a:latin typeface="Open Sans"/>
              </a:rPr>
              <a:t>cada correção acompanha o teste que a prova.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Plano: </a:t>
            </a:r>
            <a:r>
              <a:rPr sz="1800">
                <a:solidFill>
                  <a:srgbClr val="212121"/>
                </a:solidFill>
                <a:latin typeface="Open Sans"/>
              </a:rPr>
              <a:t>para o resto do pacote, entregue um plano de remediação.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Foco: </a:t>
            </a:r>
            <a:r>
              <a:rPr sz="1800">
                <a:solidFill>
                  <a:srgbClr val="212121"/>
                </a:solidFill>
                <a:latin typeface="Open Sans"/>
              </a:rPr>
              <a:t>o objetivo é fechar o fio completo, não corrigir tudo.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Gate: </a:t>
            </a:r>
            <a:r>
              <a:rPr sz="1800">
                <a:solidFill>
                  <a:srgbClr val="212121"/>
                </a:solidFill>
                <a:latin typeface="Open Sans"/>
              </a:rPr>
              <a:t>a classe corrigida deve passar de vermelho a verde no 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548640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800" b="1" i="0">
                <a:solidFill>
                  <a:srgbClr val="7CB342"/>
                </a:solidFill>
                <a:latin typeface="Open Sans"/>
              </a:rPr>
              <a:t>Perguntas?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977639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Prof. Dr. Alex Mulattieri Suarez Orozco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CCD7C0"/>
                </a:solidFill>
                <a:latin typeface="Open Sans"/>
              </a:rPr>
              <a:t>alexorozco@ifsul.edu.br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CD7C0"/>
                </a:solidFill>
                <a:latin typeface="Open Sans"/>
              </a:rPr>
              <a:t>IFSul · Câmpus Sapucaia do Sul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