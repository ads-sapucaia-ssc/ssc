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7CB342"/>
                </a:solidFill>
                <a:latin typeface="Open Sans"/>
              </a:rPr>
              <a:t>Aula 1 — Contexto 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Kickoff do SSDLC e classificação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Secure SDLC · Data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Por que SSDLC?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Segurança em cada fase — não no fim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O custo do código inseguro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Quatro números que mudam a conversa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5468112" cy="2103120"/>
          </a:xfrm>
          <a:prstGeom prst="roundRect">
            <a:avLst/>
          </a:prstGeom>
          <a:solidFill>
            <a:srgbClr val="E8F0DB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B71C1C"/>
                </a:solidFill>
                <a:latin typeface="Open Sans"/>
              </a:rPr>
              <a:t>US$ 4,88M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D7A3D"/>
                </a:solidFill>
                <a:latin typeface="Open Sans"/>
              </a:rPr>
              <a:t>custo médio de uma data breach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16161"/>
                </a:solidFill>
                <a:latin typeface="Open Sans"/>
              </a:rPr>
              <a:t>IBM 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468112" cy="2103120"/>
          </a:xfrm>
          <a:prstGeom prst="roundRect">
            <a:avLst/>
          </a:prstGeom>
          <a:solidFill>
            <a:srgbClr val="E8F0DB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B71C1C"/>
                </a:solidFill>
                <a:latin typeface="Open Sans"/>
              </a:rPr>
              <a:t>194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146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D7A3D"/>
                </a:solidFill>
                <a:latin typeface="Open Sans"/>
              </a:rPr>
              <a:t>para identificar uma breach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16161"/>
                </a:solidFill>
                <a:latin typeface="Open Sans"/>
              </a:rPr>
              <a:t>IBM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03320"/>
            <a:ext cx="5468112" cy="2103120"/>
          </a:xfrm>
          <a:prstGeom prst="roundRect">
            <a:avLst/>
          </a:prstGeom>
          <a:solidFill>
            <a:srgbClr val="E8F0DB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B71C1C"/>
                </a:solidFill>
                <a:latin typeface="Open Sans"/>
              </a:rPr>
              <a:t>+742%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7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D7A3D"/>
                </a:solidFill>
                <a:latin typeface="Open Sans"/>
              </a:rPr>
              <a:t>ataques a supply chain em 4 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16161"/>
                </a:solidFill>
                <a:latin typeface="Open Sans"/>
              </a:rPr>
              <a:t>Sonatype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03320"/>
            <a:ext cx="5468112" cy="2103120"/>
          </a:xfrm>
          <a:prstGeom prst="roundRect">
            <a:avLst/>
          </a:prstGeom>
          <a:solidFill>
            <a:srgbClr val="E8F0DB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88620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B71C1C"/>
                </a:solidFill>
                <a:latin typeface="Open Sans"/>
              </a:rPr>
              <a:t>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54879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D7A3D"/>
                </a:solidFill>
                <a:latin typeface="Open Sans"/>
              </a:rPr>
              <a:t>das breaches exploram vulns conhecidas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663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16161"/>
                </a:solidFill>
                <a:latin typeface="Open Sans"/>
              </a:rPr>
              <a:t>Verizon DBIR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943600"/>
            <a:ext cx="11384280" cy="5486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053328"/>
            <a:ext cx="11384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Open Sans"/>
              </a:rPr>
              <a:t>Software inseguro é risco financeiro, reputacional e legal.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SDLC vs SSDLC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Não é uma fase a mais — é segurança em cada fase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5486400" cy="640080"/>
          </a:xfrm>
          <a:prstGeom prst="round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SDLC tradicional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Foco: entregar funcionalidades.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Segurança = atividade pontual.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Pentest no fim (se houver).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Compliance reativo.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486400" cy="640080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SSDLC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Foco: entregar valor seguro.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Segurança transversal a tudo.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Threat model em cada feature.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Compliance by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Pilares da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CIA + atributos estendidos (base de todo requisito)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3100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Confidentiality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só autorizados acessam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8172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8172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dados não alterados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21624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53244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3244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disponível quando preciso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43100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3100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Authenticity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provar quem é quem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8172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8172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Authorization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o que pode fazer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1624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53244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3244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4504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Non-repudiation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4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não negar autoria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Classificação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O que você protege depende do que protege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Classificação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Nível -&gt; requisitos típicos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CRÍTICO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PII sensível, saúde, cartão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Cripto forte + auditoria + acesso mínimo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CONFIDENCIAL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Financeiro, segredo comercial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Acesso restrito, cifragem, logging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INTERNO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Documentos e planos internos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Acesso por colaboradores autenticados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22775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2394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PÚBLICO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2394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Site,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Integridade (anti-defacement)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Regra do nível mais alto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Como calibrar requisitos e custo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 i="0">
                <a:solidFill>
                  <a:srgbClr val="7CB342"/>
                </a:solidFill>
                <a:latin typeface="Open Sans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9601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2D7A3D"/>
                </a:solidFill>
                <a:latin typeface="Open Sans"/>
              </a:rPr>
              <a:t>O nível mais alto que um fluxo toca define seus requisitos — dado público + CPF passa a ser tratado como crítico.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616161"/>
                </a:solidFill>
                <a:latin typeface="Open Sans"/>
              </a:rPr>
              <a:t>Engenharia de requisitos de segurança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553212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etapa desta semana (Fase 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da Fase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que o grupo produz esta semana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Inventário: </a:t>
            </a:r>
            <a:r>
              <a:rPr sz="1800">
                <a:solidFill>
                  <a:srgbClr val="212121"/>
                </a:solidFill>
                <a:latin typeface="Open Sans"/>
              </a:rPr>
              <a:t>ativos, telas, endpoints e tabelas do VidaPlus.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Classificação: </a:t>
            </a:r>
            <a:r>
              <a:rPr sz="1800">
                <a:solidFill>
                  <a:srgbClr val="212121"/>
                </a:solidFill>
                <a:latin typeface="Open Sans"/>
              </a:rPr>
              <a:t>tabela Público-&gt;Crítico com base legal (LGPD).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Fluxos críticos: </a:t>
            </a:r>
            <a:r>
              <a:rPr sz="1800">
                <a:solidFill>
                  <a:srgbClr val="212121"/>
                </a:solidFill>
                <a:latin typeface="Open Sans"/>
              </a:rPr>
              <a:t>nomear os 3 mais sensíveis (login, laudo, auditoria).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Trust boundaries: </a:t>
            </a:r>
            <a:r>
              <a:rPr sz="1800">
                <a:solidFill>
                  <a:srgbClr val="212121"/>
                </a:solidFill>
                <a:latin typeface="Open Sans"/>
              </a:rPr>
              <a:t>onde o dado cruza zonas de confiança.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Dica: </a:t>
            </a:r>
            <a:r>
              <a:rPr sz="1800">
                <a:solidFill>
                  <a:srgbClr val="212121"/>
                </a:solidFill>
                <a:latin typeface="Open Sans"/>
              </a:rPr>
              <a:t>laudo de exame é dado de saúde -&gt; Crítico (LGPD art. 11).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