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 da disciplina. Objetivo: entender por que segurança precisa estar em todo o ciclo (SSDLC) e aprender a classificar os dados de um sistema. Ao final, o grupo faz o inventário e a classificação do VidaPlus (Fase 0 do projeto).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VidaPlus é um cenário de simulação (projeto real em escala acadêmica). A história: uma clínica cujo sistema funciona há anos mas nunca foi avaliado quanto a segurança e LGPD. Um quase-incidente (IDOR: paciente vê exame de outro) e a fiscalização da ANPD motivam a contratação da 'sua equipe' para adequá-lo. As falhas estão no código/design — não na versão da tecnologia, que é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prova única nem teoria solta: a disciplina é um SSDLC completo aplicado ao VidaPlus, com a teoria puxada pela demanda de cada fase (just-in-time). Você aprende o conceito no momento em que precisa aplicá-lo. A avaliação é contínua, por artefato entregue em cada fase, mais a defesa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foco da disciplina é o PROCESSO seguro (SSDLC + LGPD + privacidade), não desenvolvimento. Por isso a maior parte do trabalho é análise e privacidade; a correção de código é prova de conceito (1–2 controles ponta-a-ponta) para demonstrar que o grupo sabe fechar o fio ativo→ameaça→requisito→controle→teste→evidência. O restante vira plano de remediação.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linha é uma etapa entregável do projeto, com a(s) semana(s) correspondente(s). O ritmo respeita a regra das 3h/aula (≈1/3 teoria, 2/3 prática). A Fase 2 (threat modeling + privacidade) tem duas semanas por ser o coração da disciplina; a Fase 4 (remediação) tem quatro. As semanas 15–16 são para as defesas e um buffer.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dos temas, na ordem em que aparecem. Cada bloco corresponde a uma ou mais aulas e a uma fase do projeto. Repare que segurança e privacidade caminham juntas: STRIDE (segurança) e LINDDUN (privacidade) usam o mesmo DFD; LGPD atravessa quase todas as fases. Guarde o mapa — voltaremos a ele a cada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Segurança não é 'custo opcional': uma violação custa milhões e leva ~6 meses só para ser detectada. 60% das brechas exploram vulnerabilidades JÁ conhecidas — ou seja, corrigíveis. A mensagem: tratar segurança cedo é mais barato do que remediar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SDLC tradicional trata segurança como um teste no fim (pentest na véspera do release) — quando corrigir é caro e muitas vezes 'adia-se'. O SSDLC (Secure SDLC) embute segurança em requisitos, design, código, teste e operação. Corrigir um bug na fase de requisitos custa até 100x menos que em produção (curva do NIST/IBM).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tríade clássica é CIA (Confidentiality, Integrity, Availability). Sistemas modernos acrescentam Autenticidade, Autorização e Não-repúdio. Toda ameaça viola um desses atributos e todo requisito de segurança existe para preservar um deles — por isso o 1º passo de qualquer requisito é perguntar 'qual atributo preciso garantir aqui?'.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Classificar é um exercício de SEGURANÇA (por impacto), não de direito: pergunte 'que dano se este dado vazar/for alterado?'. Quanto maior o dano, maior o nível, e o nível calibra o rigor (e o custo) dos controles. No VidaPlus, laudo de exame é dado de saúde = o mais sensível = Crítico. A base legal (LGPD) que fundamenta isso vem na Aula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fluxo herda o nível do dado MAIS sensível que ele toca. Exemplo: a busca de pacientes é 'só um formulário', mas retorna CPF e vínculo com exames — logo é crítica. Isso evita o erro de proteger a tela de login com rigor e deixar a busca desprotegida.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 concreto: uma tabela de inventário + classificação. NÃO se exige LGPD ainda — só a intuição de sensibilidade. A coluna 'base legal' será preenchida na Fase 1, após a aula de LGPD. Suba o VidaPlus com 'docker compose up' e explore as telas para levantar os 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 — Contexto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Kickoff do SSDLC e classificação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SDLC · Data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Contexto, funcionamento e cronograma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 Clínica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cenário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sistema: </a:t>
            </a:r>
            <a:r>
              <a:rPr sz="1800">
                <a:solidFill>
                  <a:srgbClr val="212121"/>
                </a:solidFill>
                <a:latin typeface="Open Sans"/>
              </a:rPr>
              <a:t>portal web de uma clínica — paciente, médico, laboratório, admin.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problema: </a:t>
            </a:r>
            <a:r>
              <a:rPr sz="1800">
                <a:solidFill>
                  <a:srgbClr val="212121"/>
                </a:solidFill>
                <a:latin typeface="Open Sans"/>
              </a:rPr>
              <a:t>opera desde 2015 e nunca passou por revisão de segurança nem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gatilho: </a:t>
            </a:r>
            <a:r>
              <a:rPr sz="1800">
                <a:solidFill>
                  <a:srgbClr val="212121"/>
                </a:solidFill>
                <a:latin typeface="Open Sans"/>
              </a:rPr>
              <a:t>fiscalização da ANPD + um paciente viu o exame de outro trocando a URL.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 missão: </a:t>
            </a:r>
            <a:r>
              <a:rPr sz="1800">
                <a:solidFill>
                  <a:srgbClr val="212121"/>
                </a:solidFill>
                <a:latin typeface="Open Sans"/>
              </a:rPr>
              <a:t>adequar o sistema à realidade atual — sem reescrever do zero.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Stack atual: </a:t>
            </a:r>
            <a:r>
              <a:rPr sz="1800">
                <a:solidFill>
                  <a:srgbClr val="212121"/>
                </a:solidFill>
                <a:latin typeface="Open Sans"/>
              </a:rPr>
              <a:t>React + Java 21/Spring Boot 3 + MySQL; o 'legado' é o descuido, não a tecnologia.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funciona 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 projeto vivo o semestre inteiro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Projeto único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toda a teoria gira em torno do VidaPlus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Teoria sob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etapa puxa a aula que ela exige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Grupos de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grupo com um pacote de funcionalidades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Avaliação por artefato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dossiê + defesa; o pipeline é evidência, não a nota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que você vai produzir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Foco no processo, não em codar muito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Análise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requisitos · threat model (STRIDE+LINDDUN) · RIPD (Relatório de Impacto à Proteção de Dados)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Prova de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corrigir 1–2 controles ponta-a-ponta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Plano de remediação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o restante das falhas do pacote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Dossiê + defesa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rastreabilidade e fechamento do fio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Cronograma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16 semanas · uma fase por etapa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0 · Sem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Kickoff + inventário + classificação de dados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1 · Sem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Requisitos de segurança + LGPD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2 · Sem 3–4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Threat modeling: STRIDE + LINDDUN + RIPD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3 · Sem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Projeto seguro + priorização + DoD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4 · Sem 6–9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Remediação (prova de conceito) + plano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5 · Sem 10–11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Verificação: SAST/DAST/SCA + testes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607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39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Fases 6–7 · Sem 12–13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39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DevSecOps + operação e incidentes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7395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8 · Sem 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Rastreabilidade + métricas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621792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309359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Semanas 15–16: defesas — fechar o fio completo ao vivo.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Assuntos abordados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veremos ao longo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SSDLC &amp; fundamentos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shift-left · CIA+AAN · princípios de 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Requisitos &amp; LGPD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RFS/RGS · 4 fontes · ASVS · base legal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Threat modeling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DFD · STRIDE · árvore de ataque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Privacy by Design · LINDDUN · PETs · RIPD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Implementação segura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OWASP Top 10 · secure coding · cripto · segredos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Verificação &amp; DevSecOps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SAST/DAST/SCA · CI/CD · SBOM · auditoria · métricas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Por que SSDLC?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Segurança em cada fase — não no fim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custo do código inseguro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Quatro números que mudam a conversa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US$ 4,88M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custo médio de uma data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194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para identificar uma breach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+742%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ataques a supply chain em 4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Sonatype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das breaches exploram vulns conhecidas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Verizon DBIR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943600"/>
            <a:ext cx="11384280" cy="5486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53328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Open Sans"/>
              </a:rPr>
              <a:t>Software inseguro é risco financeiro, reputacional e legal.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SDLC vs SSDLC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é uma fase a mais — é segurança em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SDLC tradicional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funcionalidades.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= atividade pontual.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Pentest no fim (se houver).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reativo (auditoria).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SSDLC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valor seguro.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transversal a todas as fases.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Threat model em cada feature.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'by design'.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Pilares da segurança da informação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Todo requisito existe para preservar um destes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quem tem autorização acessa o dado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dado não é alterado indevidamente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sistema está disponível quando preciso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Authenticity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provar quem é quem (identidade verificável)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após autenticar, o que cada um pode fazer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poder negar a autoria de uma 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você protege depende do que protege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Nível de sensibilidade -&gt; requisitos típicos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CRÍTICO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Saúde, biometria, cartão, PII sensível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 forte + auditoria + acesso 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Financeiro pessoal, segredo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restrito, cifragem, 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INTERNO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Documentos e planos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só por colaboradores autenticados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Site, marketing, blog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Integridade (anti-defacement)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Regra do nível mais 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Como calibrar requisitos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O nível mais alto que um fluxo toca define os requisitos de todo o fluxo — um formulário público que também recebe CPF passa a ser tratado como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Engenharia de requisitos de segurança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grupo produz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Inventário: </a:t>
            </a:r>
            <a:r>
              <a:rPr sz="1800">
                <a:solidFill>
                  <a:srgbClr val="212121"/>
                </a:solidFill>
                <a:latin typeface="Open Sans"/>
              </a:rPr>
              <a:t>liste ativos, telas, endpoints e tabelas do VidaPlus.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Classificação: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dê a cada dado um nível por sensibilidade/impacto (Público-&gt;Crítico).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o nível mais alto que um fluxo toca define o fluxo.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Fluxos críticos: </a:t>
            </a:r>
            <a:r>
              <a:rPr sz="1800">
                <a:solidFill>
                  <a:srgbClr val="212121"/>
                </a:solidFill>
                <a:latin typeface="Open Sans"/>
              </a:rPr>
              <a:t>identifique os 3 principais — login, laudo, auditoria.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boundaries: </a:t>
            </a:r>
            <a:r>
              <a:rPr sz="1800">
                <a:solidFill>
                  <a:srgbClr val="212121"/>
                </a:solidFill>
                <a:latin typeface="Open Sans"/>
              </a:rPr>
              <a:t>marque onde o dado cruza zonas de confiança.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 (LGPD): </a:t>
            </a:r>
            <a:r>
              <a:rPr sz="1800">
                <a:solidFill>
                  <a:srgbClr val="212121"/>
                </a:solidFill>
                <a:latin typeface="Open Sans"/>
              </a:rPr>
              <a:t>só na Fase 1 — aqui, apenas marque o que é sensível.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