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1 da disciplina. Objetivo: entender por que segurança precisa estar em todo o ciclo (SSDLC) e aprender a classificar os dados de um sistema. Ao final, o grupo faz o inventário e a classificação do VidaPlus (Fase 0 do projeto).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VidaPlus é um cenário de simulação (projeto real em escala acadêmica). A história: uma clínica cujo sistema funciona há anos mas nunca foi avaliado quanto a segurança e LGPD. Um quase-incidente (IDOR: paciente vê exame de outro) e a fiscalização da ANPD motivam a contratação da 'sua equipe' para adequá-lo. As falhas estão no código/design — não na versão da tecnologia, que é atual.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há prova única nem teoria solta: a disciplina é um SSDLC completo aplicado ao VidaPlus, com a teoria puxada pela demanda de cada fase (just-in-time). Você aprende o conceito no momento em que precisa aplicá-lo. A avaliação é contínua, por artefato entregue em cada fase, mais a defesa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foco da disciplina é o PROCESSO seguro (SSDLC + LGPD + privacidade), não desenvolvimento. Por isso a maior parte do trabalho é análise e privacidade; a correção de código é prova de conceito (1–2 controles ponta-a-ponta) para demonstrar que o grupo sabe fechar o fio ativo→ameaça→requisito→controle→teste→evidência. O restante vira plano de remediação.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linha é uma etapa entregável do projeto, com a(s) semana(s) correspondente(s). O ritmo respeita a regra das 3h/aula (≈1/3 teoria, 2/3 prática). A Fase 2 (threat modeling + privacidade) tem duas semanas por ser o coração da disciplina; a Fase 4 (remediação) tem quatro. As semanas 15–16 são para as defesas e um buffer.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Panorama dos temas, na ordem em que aparecem. Cada bloco corresponde a uma ou mais aulas e a uma fase do projeto. Repare que segurança e privacidade caminham juntas: STRIDE (segurança) e LINDDUN (privacidade) usam o mesmo DFD; LGPD atravessa quase todas as fases. Guarde o mapa — voltaremos a ele a cada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Segurança não é 'custo opcional': uma violação custa milhões e leva ~6 meses só para ser detectada. 60% das brechas exploram vulnerabilidades JÁ conhecidas — ou seja, corrigíveis. A mensagem: tratar segurança cedo é mais barato do que remediar depois.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SDLC tradicional trata segurança como um teste no fim (pentest na véspera do release) — quando corrigir é caro e muitas vezes 'adia-se'. O SSDLC (Secure SDLC) embute segurança em requisitos, design, código, teste e operação. Corrigir um bug na fase de requisitos custa até 100x menos que em produção (curva do NIST/IBM).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tríade clássica é CIA (Confidentiality, Integrity, Availability). Sistemas modernos acrescentam Autenticidade, Autorização e Não-repúdio. Toda ameaça viola um desses atributos e todo requisito de segurança existe para preservar um deles — por isso o 1º passo de qualquer requisito é perguntar 'qual atributo preciso garantir aqui?'.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Classificar é um exercício de SEGURANÇA (por impacto), não de direito: pergunte 'que dano se este dado vazar/for alterado?'. Quanto maior o dano, maior o nível, e o nível calibra o rigor (e o custo) dos controles. No VidaPlus, laudo de exame é dado de saúde = o mais sensível = Crítico. A base legal (LGPD) que fundamenta isso vem na Aula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fluxo herda o nível do dado MAIS sensível que ele toca. Exemplo: a busca de pacientes é 'só um formulário', mas retorna CPF e vínculo com exames — logo é crítica. Isso evita o erro de proteger a tela de login com rigor e deixar a busca desprotegida.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Entregável concreto: uma tabela de inventário + classificação. NÃO se exige LGPD ainda — só a intuição de sensibilidade. A coluna 'base legal' será preenchida na Fase 1, após a aula de LGPD. Suba o VidaPlus com 'docker compose up' e explore as telas para levantar os ativos.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7CB342"/>
                </a:solidFill>
                <a:latin typeface="Open Sans"/>
              </a:rPr>
              <a:t>Aula 1 — Contexto 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Kickoff do SSDLC e classificação de 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Secure SDLC · Data Classification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em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O projeto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Contexto, funcionamento e cronograma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A Clínica VidaPlus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cenário do semestre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O sistema: </a:t>
            </a:r>
            <a:r>
              <a:rPr sz="1800">
                <a:solidFill>
                  <a:srgbClr val="212121"/>
                </a:solidFill>
                <a:latin typeface="Open Sans"/>
              </a:rPr>
              <a:t>portal web de uma clínica — paciente, médico, laboratório, admin.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O problema: </a:t>
            </a:r>
            <a:r>
              <a:rPr sz="1800">
                <a:solidFill>
                  <a:srgbClr val="212121"/>
                </a:solidFill>
                <a:latin typeface="Open Sans"/>
              </a:rPr>
              <a:t>opera desde 2015 e nunca passou por revisão de segurança nem LGPD.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O gatilho: </a:t>
            </a:r>
            <a:r>
              <a:rPr sz="1800">
                <a:solidFill>
                  <a:srgbClr val="212121"/>
                </a:solidFill>
                <a:latin typeface="Open Sans"/>
              </a:rPr>
              <a:t>fiscalização da ANPD + um paciente viu o exame de outro trocando a URL.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A missão: </a:t>
            </a:r>
            <a:r>
              <a:rPr sz="1800">
                <a:solidFill>
                  <a:srgbClr val="212121"/>
                </a:solidFill>
                <a:latin typeface="Open Sans"/>
              </a:rPr>
              <a:t>adequar o sistema à realidade atual — sem reescrever do zero.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Stack atual: </a:t>
            </a:r>
            <a:r>
              <a:rPr sz="1800">
                <a:solidFill>
                  <a:srgbClr val="212121"/>
                </a:solidFill>
                <a:latin typeface="Open Sans"/>
              </a:rPr>
              <a:t>React + Java 21/Spring Boot 3 + MySQL; o 'legado' é o descuido, não a tecnologia.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Como funciona a disciplina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Um projeto vivo o semestre inteiro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Projeto único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toda a teoria gira em torno do VidaPlus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Teoria sob demanda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cada etapa puxa a aula que ela exige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Grupos de 3–4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cada grupo com um pacote de funcionalidades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Avaliação por artefato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dossiê + defesa; o pipeline é evidência, não a nota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O que você vai produzir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Foco no processo, não em codar muito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Análise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requisitos, threat model (STRIDE+LINDDUN), RIPD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Prova de conceito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corrigir 1–2 controles ponta-a-ponta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Plano de remediação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para o restante das falhas do pacote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Dossiê + defesa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rastreabilidade e fechamento do fio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Cronograma do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16 semanas · uma fase por etapa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1732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76072" y="159105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67335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39" y="153619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 0 · Sem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39" y="192024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Kickoff + inventário + classificação de dados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3952" y="159105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67335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153619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 1 · Sem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192024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Requisitos de segurança + LGPD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60604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76072" y="277977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286207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39" y="272491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 2 · Sem 3–4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39" y="310896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Threat modeling: STRIDE + LINDDUN + RIPD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260604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277977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286207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272491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 3 · Sem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310896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Projeto seguro + priorização + DoD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379476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6072" y="396849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" y="405079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39" y="391363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 4 · Sem 6–9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39" y="429768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Remediação (prova de conceito) + plano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379476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73952" y="396849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2" y="405079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60920" y="391363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 5 · Sem 10–11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20" y="429768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Verificação: SAST/DAST/SCA + testes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1480" y="498348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76072" y="515721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6072" y="523951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63039" y="510235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Fases 6–7 · Sem 12–13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63039" y="548640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DevSecOps + operação e incidentes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09360" y="498348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473952" y="515721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73952" y="523951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60920" y="510235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 8 · Sem 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60920" y="548640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Rastreabilidade + métricas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6217920"/>
            <a:ext cx="11384280" cy="50292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6309359"/>
            <a:ext cx="11384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Semanas 15–16: defesas — fechar o fio completo ao vivo.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Assuntos abordados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que veremos ao longo do semestre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SSDLC &amp; fundamentos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shift-left · CIA+AAN · princípios de design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Requisitos &amp; LGPD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RFS/RGS · 4 fontes · ASVS · base legal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Threat modeling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DFD · STRIDE · árvore de ataque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Privacidade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Privacy by Design · LINDDUN · PETs · RIPD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Implementação segura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OWASP Top 10 · secure coding · cripto · segredos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Verificação &amp; DevSecOps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SAST/DAST/SCA · CI/CD · SBOM · auditoria · métricas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Por que SSDLC?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Segurança em cada fase — não no fim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O custo do código inseguro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Quatro números que mudam a conversa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103120"/>
          </a:xfrm>
          <a:prstGeom prst="roundRect">
            <a:avLst/>
          </a:prstGeom>
          <a:solidFill>
            <a:srgbClr val="E8F0DB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B71C1C"/>
                </a:solidFill>
                <a:latin typeface="Open Sans"/>
              </a:rPr>
              <a:t>US$ 4,88M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146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D7A3D"/>
                </a:solidFill>
                <a:latin typeface="Open Sans"/>
              </a:rPr>
              <a:t>custo médio de uma data breach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260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616161"/>
                </a:solidFill>
                <a:latin typeface="Open Sans"/>
              </a:rPr>
              <a:t>IBM 2024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63040"/>
            <a:ext cx="5468112" cy="2103120"/>
          </a:xfrm>
          <a:prstGeom prst="roundRect">
            <a:avLst/>
          </a:prstGeom>
          <a:solidFill>
            <a:srgbClr val="E8F0DB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64592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B71C1C"/>
                </a:solidFill>
                <a:latin typeface="Open Sans"/>
              </a:rPr>
              <a:t>194 dias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5146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D7A3D"/>
                </a:solidFill>
                <a:latin typeface="Open Sans"/>
              </a:rPr>
              <a:t>para identificar uma breach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9260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616161"/>
                </a:solidFill>
                <a:latin typeface="Open Sans"/>
              </a:rPr>
              <a:t>IBM 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703320"/>
            <a:ext cx="5468112" cy="2103120"/>
          </a:xfrm>
          <a:prstGeom prst="roundRect">
            <a:avLst/>
          </a:prstGeom>
          <a:solidFill>
            <a:srgbClr val="E8F0DB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88620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B71C1C"/>
                </a:solidFill>
                <a:latin typeface="Open Sans"/>
              </a:rPr>
              <a:t>+742%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54879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D7A3D"/>
                </a:solidFill>
                <a:latin typeface="Open Sans"/>
              </a:rPr>
              <a:t>ataques a supply chain em 4 anos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663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616161"/>
                </a:solidFill>
                <a:latin typeface="Open Sans"/>
              </a:rPr>
              <a:t>Sonatype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703320"/>
            <a:ext cx="5468112" cy="2103120"/>
          </a:xfrm>
          <a:prstGeom prst="roundRect">
            <a:avLst/>
          </a:prstGeom>
          <a:solidFill>
            <a:srgbClr val="E8F0DB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388620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B71C1C"/>
                </a:solidFill>
                <a:latin typeface="Open Sans"/>
              </a:rPr>
              <a:t>60%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754879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D7A3D"/>
                </a:solidFill>
                <a:latin typeface="Open Sans"/>
              </a:rPr>
              <a:t>das breaches exploram vulns conhecidas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1663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616161"/>
                </a:solidFill>
                <a:latin typeface="Open Sans"/>
              </a:rPr>
              <a:t>Verizon DBIR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5943600"/>
            <a:ext cx="11384280" cy="5486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053328"/>
            <a:ext cx="11384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Open Sans"/>
              </a:rPr>
              <a:t>Software inseguro é risco financeiro, reputacional e legal.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SDLC vs SSDLC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Não é uma fase a mais — é segurança em cada fase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54480"/>
            <a:ext cx="5486400" cy="640080"/>
          </a:xfrm>
          <a:prstGeom prst="roundRect">
            <a:avLst/>
          </a:prstGeom>
          <a:solidFill>
            <a:srgbClr val="424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SDLC tradicional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Foco: entregar funcionalidades.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Segurança = atividade pontual.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Pentest no fim (se houver).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Compliance reativo (auditoria).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486400" cy="640080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SSDLC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Foco: entregar valor seguro.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Segurança transversal a todas as fases.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Threat model em cada feature.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Compliance 'by design'.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Pilares da segurança da informação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Todo requisito existe para preservar um destes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Confidentiality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só quem tem autorização acessa o dado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Integrity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o dado não é alterado indevidamente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Availability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o sistema está disponível quando preciso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Authenticity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provar quem é quem (identidade verificável)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Authorization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após autenticar, o que cada um pode fazer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Non-repudiation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não poder negar a autoria de uma ação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Classificação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O que você protege depende do que protege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Classificação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Nível de sensibilidade -&gt; requisitos típicos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CRÍTICO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Saúde, biometria, cartão, PII sensível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Cripto forte + auditoria + acesso mínimo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CONFIDENCIAL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Financeiro pessoal, segredo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Acesso restrito, cifragem, logging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INTERNO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Documentos e planos internos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Acesso só por colaboradores autenticados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PÚBLICO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Site, marketing, blog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Integridade (anti-defacement)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Regra do nível mais alto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Como calibrar requisitos e custo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371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0" b="1" i="0">
                <a:solidFill>
                  <a:srgbClr val="7CB342"/>
                </a:solidFill>
                <a:latin typeface="Open Sans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194560"/>
            <a:ext cx="96012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 i="1">
                <a:solidFill>
                  <a:srgbClr val="2D7A3D"/>
                </a:solidFill>
                <a:latin typeface="Open Sans"/>
              </a:rPr>
              <a:t>O nível mais alto que um fluxo toca define os requisitos de todo o fluxo — um formulário público que também recebe CPF passa a ser tratado como crítico.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93776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616161"/>
                </a:solidFill>
                <a:latin typeface="Open Sans"/>
              </a:rPr>
              <a:t>Engenharia de requisitos de segurança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553212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0)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que o grupo produz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Inventário: </a:t>
            </a:r>
            <a:r>
              <a:rPr sz="1800">
                <a:solidFill>
                  <a:srgbClr val="212121"/>
                </a:solidFill>
                <a:latin typeface="Open Sans"/>
              </a:rPr>
              <a:t>liste ativos, telas, endpoints e tabelas do VidaPlus.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Classificação: </a:t>
            </a:r>
            <a:r>
              <a:rPr sz="1800">
                <a:solidFill>
                  <a:srgbClr val="212121"/>
                </a:solidFill>
                <a:latin typeface="Open Sans"/>
              </a:rPr>
              <a:t>dê a cada dado um nível por sensibilidade/impacto (Público-&gt;Crítico).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Regra: </a:t>
            </a:r>
            <a:r>
              <a:rPr sz="1800">
                <a:solidFill>
                  <a:srgbClr val="212121"/>
                </a:solidFill>
                <a:latin typeface="Open Sans"/>
              </a:rPr>
              <a:t>o nível mais alto que um fluxo toca define o fluxo.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Fluxos críticos: </a:t>
            </a:r>
            <a:r>
              <a:rPr sz="1800">
                <a:solidFill>
                  <a:srgbClr val="212121"/>
                </a:solidFill>
                <a:latin typeface="Open Sans"/>
              </a:rPr>
              <a:t>identifique os 3 principais — login, laudo, auditoria.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Trust boundaries: </a:t>
            </a:r>
            <a:r>
              <a:rPr sz="1800">
                <a:solidFill>
                  <a:srgbClr val="212121"/>
                </a:solidFill>
                <a:latin typeface="Open Sans"/>
              </a:rPr>
              <a:t>marque onde o dado cruza zonas de confiança.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Base legal (LGPD): </a:t>
            </a:r>
            <a:r>
              <a:rPr sz="1800">
                <a:solidFill>
                  <a:srgbClr val="212121"/>
                </a:solidFill>
                <a:latin typeface="Open Sans"/>
              </a:rPr>
              <a:t>só na Fase 1 — aqui, apenas marque o que é sensível.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