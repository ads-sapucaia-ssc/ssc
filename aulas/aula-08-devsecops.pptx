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Aula 8. Transformamos segurança em processo automatizado e repetível (DevSecOps) e aprendemos a proteger a cadeia de suprimentos de software. Entregável: pipeline como gerador de evidência + SBOM (Fase 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'Security is everyone's job, but it's still someone's specialty.' DevSecOps é cultura: devs aprendem segurança, o time de segurança provê ferramentas, e o pipeline oferece guardrails (ajuda a fazer certo) em vez de só gates que bloqueiam. Post-mortem sem culpados gera aprendizado, não medo.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Ataques a supply chain cresceram +742%. Defesas: SBOM (a 'lista de ingredientes' do software, legível por máquina); SLSA (níveis de garantia da proveniência do build — meta acadêmica: L2, build com proveniência assinada); Sigstore/cosign (assinar artefatos por identidade OIDC, sem gerenciar chaves de longa duração). O próprio pipeline é alvo de alto valor — trate-o como sistema crítico.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Vulnerability management moderno não usa só CVSS: um CVSS 10 com EPSS baixo e fora do KEV é importante, mas não urgente; um CVSS 7 no KEV é urgente (está sendo explorado AGORA). Combine CVSS × EPSS × KEV para priorizar. O VEX documenta quando sua aplicação não é afetada por uma CVE, evitando trabalho desnecessário.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entrega segura vem PRÉ-FIADA: o aluno não configura ferramenta. Na main, o pipeline faz build once -&gt; publica no GHCR -&gt; assina (cosign keyless) -&gt; atesta o SBOM (SLSA L2) -&gt; sobe staging (smoke/DAST) -&gt; e no deploy-prod VERIFICA a assinatura/atestação (recusa imagem não assinada) e exige APROVAÇÃO manual. O trabalho do grupo é tornar os gates das PoCs bloqueantes e EXPLICAR o fluxo + a evidência (imagem assinada em Packages, verify passando, a pausa de aprovação). Assinar só vale porque alguém verifica.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331720"/>
            <a:ext cx="11247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5400" b="1" i="0">
                <a:solidFill>
                  <a:srgbClr val="7CB342"/>
                </a:solidFill>
                <a:latin typeface="Open Sans"/>
              </a:rPr>
              <a:t>Aula 8 — 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5204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2D7A3D"/>
                </a:solidFill>
                <a:latin typeface="Open Sans"/>
              </a:rPr>
              <a:t>Pipeline seguro e supply 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20624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616161"/>
                </a:solidFill>
                <a:latin typeface="Open Sans"/>
              </a:rPr>
              <a:t>DevSecOps · Supply Chain Security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5184648" y="480060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616161"/>
                </a:solidFill>
                <a:latin typeface="Open Sans"/>
              </a:rPr>
              <a:t>TADS · Segurança de Sistemas Computacionais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Prof. Dr. Alex Mulattieri Suarez Orozco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DevSecOps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Cultura, não só ferramenta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DevSecOps na prática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Segurança como propriedade do time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Security Champions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1 dev por squad com treino extra, como elo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Threat modeling ritual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sessão leve a cada feature relevante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Guardrails &gt; gates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o pipeline ajuda a fazer certo, não só bloqueia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Blameless post-mortem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pós-incidente foca no sistema, não na pessoa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Supply chain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Assinar é o novo HTTPS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Garantia da cadeia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Do inventário à assinatura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2D7A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2D7A3D"/>
                </a:solidFill>
                <a:latin typeface="Open Sans"/>
              </a:rPr>
              <a:t>SBOM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inventário de todos os componentes (CycloneDX/SPDX)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1976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73736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1976D2"/>
                </a:solidFill>
                <a:latin typeface="Open Sans"/>
              </a:rPr>
              <a:t>SLSA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37744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níveis de proveniência do artefato (L0 -&gt; L3)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7CB342"/>
                </a:solidFill>
                <a:latin typeface="Open Sans"/>
              </a:rPr>
              <a:t>Sigstore/cosign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assinar por identidade (OIDC), sem gerir chaves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4069080"/>
            <a:ext cx="5468112" cy="2423160"/>
          </a:xfrm>
          <a:prstGeom prst="roundRect">
            <a:avLst/>
          </a:prstGeom>
          <a:solidFill>
            <a:srgbClr val="F5F5F5"/>
          </a:solidFill>
          <a:ln w="19050">
            <a:solidFill>
              <a:srgbClr val="E651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43434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E65100"/>
                </a:solidFill>
                <a:latin typeface="Open Sans"/>
              </a:rPr>
              <a:t>Pipeline hardening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0" y="4983480"/>
            <a:ext cx="47548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212121"/>
                </a:solidFill>
                <a:latin typeface="Open Sans"/>
              </a:rPr>
              <a:t>runners efêmeros, OIDC, branch protection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Priorização de CVEs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Não basta o CVSS — precisa de contexto real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508760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02920" y="1600200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709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709928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Vulnerabilities &amp; Exposures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7282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id universal (ex.: Log4Shell)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313432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404872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CVSS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514600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Common Vulnerability Scoring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7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gravidade 0-10 por vetor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3118103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EPSS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3319272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Exploit Prediction Scoring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337559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prob. de exploração em 30 dias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3922775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014215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123943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KEV (CISA)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4123943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Known Exploited Vulnerabilities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142231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já explorada -&gt; patch obrigatório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727448"/>
            <a:ext cx="11384280" cy="749808"/>
          </a:xfrm>
          <a:prstGeom prst="roundRect">
            <a:avLst/>
          </a:prstGeom>
          <a:solidFill>
            <a:srgbClr val="E8F0DB"/>
          </a:solidFill>
          <a:ln w="12700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4818888"/>
            <a:ext cx="1920240" cy="566927"/>
          </a:xfrm>
          <a:prstGeom prst="round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286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Open Sans"/>
              </a:rPr>
              <a:t>VEX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928616"/>
            <a:ext cx="3657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D7A3D"/>
                </a:solidFill>
                <a:latin typeface="Open Sans"/>
              </a:rPr>
              <a:t>Vulnerability Exploitability eXchange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94690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212121"/>
                </a:solidFill>
                <a:latin typeface="Open Sans"/>
              </a:rPr>
              <a:t>'tenho a CVE, mas não é explorável aqui'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94560"/>
            <a:ext cx="11247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1" i="0">
                <a:solidFill>
                  <a:srgbClr val="7CB342"/>
                </a:solidFill>
                <a:latin typeface="Open Sans"/>
              </a:rPr>
              <a:t>PARTE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834640"/>
            <a:ext cx="112471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6000" b="1" i="0">
                <a:solidFill>
                  <a:srgbClr val="FFFFFF"/>
                </a:solidFill>
                <a:latin typeface="Open Sans"/>
              </a:rPr>
              <a:t>No VidaPlus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1">
                <a:solidFill>
                  <a:srgbClr val="CCD7C0"/>
                </a:solidFill>
                <a:latin typeface="Open Sans"/>
              </a:rPr>
              <a:t>A etapa desta semana (Fase 6)</a:t>
            </a:r>
          </a:p>
        </p:txBody>
      </p:sp>
      <p:sp>
        <p:nvSpPr>
          <p:cNvPr id="6" name="Rectangle 5"/>
          <p:cNvSpPr/>
          <p:nvPr/>
        </p:nvSpPr>
        <p:spPr>
          <a:xfrm>
            <a:off x="5184648" y="4983480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D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Open Sans"/>
              </a:rPr>
              <a:t>Entregável da Fase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7724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0" i="1">
                <a:solidFill>
                  <a:srgbClr val="E0E8DB"/>
                </a:solidFill>
                <a:latin typeface="Open Sans"/>
              </a:rPr>
              <a:t>Pipeline como evidência (entrega já pré-fiada) — dossiê §8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463040"/>
            <a:ext cx="11384280" cy="5029200"/>
          </a:xfrm>
          <a:prstGeom prst="roundRect">
            <a:avLst/>
          </a:prstGeom>
          <a:solidFill>
            <a:srgbClr val="F5F5F5"/>
          </a:solidFill>
          <a:ln w="15875">
            <a:solidFill>
              <a:srgbClr val="7CB3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78308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Já pronto no pipeline: </a:t>
            </a:r>
            <a:r>
              <a:rPr sz="1800">
                <a:solidFill>
                  <a:srgbClr val="212121"/>
                </a:solidFill>
                <a:latin typeface="Open Sans"/>
              </a:rPr>
              <a:t>release-sign (assina + atesta SBOM) -&gt; staging -&gt; prod.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Prod só passa: </a:t>
            </a:r>
            <a:r>
              <a:rPr sz="1800">
                <a:solidFill>
                  <a:srgbClr val="212121"/>
                </a:solidFill>
                <a:latin typeface="Open Sans"/>
              </a:rPr>
              <a:t>com assinatura verificada + aprovação manual (admission gate).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Você NÃO configura: </a:t>
            </a:r>
            <a:r>
              <a:rPr sz="1800">
                <a:solidFill>
                  <a:srgbClr val="212121"/>
                </a:solidFill>
                <a:latin typeface="Open Sans"/>
              </a:rPr>
              <a:t>ferramentas usam OIDC + token; sem segredos.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Você faz: </a:t>
            </a:r>
            <a:r>
              <a:rPr sz="1800">
                <a:solidFill>
                  <a:srgbClr val="212121"/>
                </a:solidFill>
                <a:latin typeface="Open Sans"/>
              </a:rPr>
              <a:t>lê o pipeline e explica gates, SBOM e assinatura no dossiê.</a:t>
            </a:r>
          </a:p>
          <a:p>
            <a:pPr algn="l">
              <a:lnSpc>
                <a:spcPct val="110000"/>
              </a:lnSpc>
              <a:spcAft>
                <a:spcPts val="1400"/>
              </a:spcAft>
            </a:pPr>
            <a:r>
              <a:rPr sz="2000" b="1">
                <a:solidFill>
                  <a:srgbClr val="7CB342"/>
                </a:solidFill>
                <a:latin typeface="Open Sans"/>
              </a:rPr>
              <a:t>▸ </a:t>
            </a:r>
            <a:r>
              <a:rPr sz="1800" b="1">
                <a:solidFill>
                  <a:srgbClr val="2D7A3D"/>
                </a:solidFill>
                <a:latin typeface="Open Sans"/>
              </a:rPr>
              <a:t>Segredos (F-10): </a:t>
            </a:r>
            <a:r>
              <a:rPr sz="1800">
                <a:solidFill>
                  <a:srgbClr val="212121"/>
                </a:solidFill>
                <a:latin typeface="Open Sans"/>
              </a:rPr>
              <a:t>identifique no código e escreva o plano de remediação.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616161"/>
                </a:solidFill>
                <a:latin typeface="Open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548640"/>
            <a:ext cx="390906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194560"/>
            <a:ext cx="11247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8800" b="1" i="0">
                <a:solidFill>
                  <a:srgbClr val="7CB342"/>
                </a:solidFill>
                <a:latin typeface="Open Sans"/>
              </a:rPr>
              <a:t>Perguntas?</a:t>
            </a:r>
          </a:p>
        </p:txBody>
      </p:sp>
      <p:sp>
        <p:nvSpPr>
          <p:cNvPr id="5" name="Rectangle 4"/>
          <p:cNvSpPr/>
          <p:nvPr/>
        </p:nvSpPr>
        <p:spPr>
          <a:xfrm>
            <a:off x="5184648" y="3977639"/>
            <a:ext cx="1828800" cy="25400"/>
          </a:xfrm>
          <a:prstGeom prst="rect">
            <a:avLst/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429768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Open Sans"/>
              </a:rPr>
              <a:t>Prof. Dr. Alex Mulattieri Suarez Orozco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0" i="1">
                <a:solidFill>
                  <a:srgbClr val="CCD7C0"/>
                </a:solidFill>
                <a:latin typeface="Open Sans"/>
              </a:rPr>
              <a:t>alexorozco@ifsul.edu.br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CCD7C0"/>
                </a:solidFill>
                <a:latin typeface="Open Sans"/>
              </a:rPr>
              <a:t>IFSul · Câmpus Sapucaia do Sul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