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Aula 9. E depois que o sistema está em produção? Vemos requisitos de auditoria/não-repúdio, monitoração e resposta a incidentes, incluindo o dever legal de comunicar à ANPD. Entregável: trilha de auditoria + plano de resposta (Fase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Sem trilha de auditoria confiável é impossível provar quem fez o quê — base de LGPD, PCI-DSS e SOX. Registre eventos de segurança (login, acesso negado, ações administrativas), mas NUNCA grave PII/segredos no log (isso vira nova vulnerabilidade). A qualidade importa: log imutável/assinado, com tempo sincronizado. No VidaPlus a auditoria usa hash-chain (cada entrada encadeia a anterior) e user_id opaco.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Operação também se mede. MTTD (tempo de detecção) e MTTR (tempo de remediação) são as métricas-chave: quanto menores, mais madura a operação. O objetivo é reduzir o escape rate (bugs que vazam para produção) ao longo do tempo. Estas métricas complementam as de processo (% de ameaças com controle, % de requisitos com teste).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ciclo de resposta a incidentes: detectar, conter, erradicar, recuperar, notificar e aprender. A LGPD (art. 48) obriga a comunicar à ANPD e ao titular quando há risco/dano relevante — com prazo e conteúdo mínimo. O post-mortem (sem culpados) realimenta os requisitos: o incidente vira novo requisito de segurança.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Exemplo concreto do VidaPlus — é este o modelo que o grupo escreve e adapta no entregável. Cenário: a auditoria detecta que o paciente A baixou o laudo do paciente B (IDOR, V-03). Note a ordem: primeiro CONTER (revogar sessão, bloquear o endpoint) para estancar, sem apagar log — a trilha é a prova; só então ERRADICAR a causa-raiz (validar ownership no servidor). Dado de saúde é sensível, então quase sempre há 'risco relevante' -&gt; notificar ANPD e titulares em até 3 dias úteis, com o conteúdo do art. 48. Por fim, o post-mortem vira um novo requisito (ex.: teste anti-IDOR obrigatório + alerta de acesso cross-owner) e entra na matriz de rastreabilidade.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Entregável: a trilha de auditoria funcionando (com verificação de integridade) e um runbook de resposta a incidente para o cenário 'vazamento de laudo'. Teste que adulterar uma entrada quebra a verificação da cadeia — é o que garante o não-repúdio.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7CB342"/>
                </a:solidFill>
                <a:latin typeface="Open Sans"/>
              </a:rPr>
              <a:t>Aula 9 — Operação &amp; Incidentes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Auditoria, monitoração e resposta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Ops · Incident Response · ANPD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de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Open Sans"/>
              </a:rPr>
              <a:t>Auditoria e não-repúdio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Os requisitos mais esquecidos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Trilha de auditoria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que registrar × qualidade do log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54480"/>
            <a:ext cx="5486400" cy="640080"/>
          </a:xfrm>
          <a:prstGeom prst="roundRect">
            <a:avLst/>
          </a:prstGeom>
          <a:solidFill>
            <a:srgbClr val="424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O que registrar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Autenticação e autorização negada.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Acesso/alteração de dado sensível.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Ações administrativas.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Sem expor segredos/PII no log.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486400" cy="640080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Qualidade do log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Integridade: imutável / assinado.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Sincronização de tempo (NTP).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Retenção conforme política e lei.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Alertas em padrões anômalos.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Detecção e resposta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E depois que está em produção?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Métricas de operação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que medir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B71C1C"/>
                </a:solidFill>
                <a:latin typeface="Open Sans"/>
              </a:rPr>
              <a:t>MTTD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tempo até detectar (média atual do setor: 194 dias)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MTTR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tempo até remediar (meta: críticas &lt; 14 dias)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% Cobertura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código + dependências escaneados regularmente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Escape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bugs de segurança que chegaram à produção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Resposta a incidente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Fluxo de um vazamento de laudo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1732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76072" y="159105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67335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39" y="153619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Detecção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39" y="192024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alerta/monitoração identifica o acesso indevido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3952" y="159105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167335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153619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Contenção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192024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revogar sessão, bloquear o endpoint afetado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60604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76072" y="277977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" y="286207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39" y="272491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Erradicação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39" y="310896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corrigir a causa-raiz (ex.: o IDOR)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260604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73952" y="277977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286207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272491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Recuperação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310896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restaurar o serviço e validar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379476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76072" y="396849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" y="405079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39" y="391363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Notificação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39" y="429768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comunicar ANPD e titular (LGPD art. 48)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379476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473952" y="396849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73952" y="405079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60920" y="391363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Lições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60920" y="429768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post-mortem realimenta os requisitos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5029200"/>
            <a:ext cx="11384280" cy="50292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5120640"/>
            <a:ext cx="11384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Open Sans"/>
              </a:rPr>
              <a:t>Sem trilha de auditoria confiável é impossível provar quem fez o quê.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Runbook: vazamento de laudo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Exemplo trabalhado — o modelo que você adapta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1 Detecção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auditoria acusa acesso indevido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quem, quando, qual exame — preserve o log (hash-chain)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2 Contenção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revogar sessão; bloquear endpoint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estancar sem destruir evidência (em minutos)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3 Erradicação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corrigir a causa-raiz (IDOR)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ownership no servidor; deny-by-default; URL assinada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4 Recuperação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redeploy + teste anti-IDOR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 pede exame de B -&gt; 403; voltar a monitorar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727448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4818888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28616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5 Notificação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9286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ANPD + titular até 3 dias úteis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94690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dados, nº de titulares, medidas, riscos, mitigação (art. 48)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5532119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5623559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733287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6 Lições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80" y="5733287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post-mortem sem culpados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5751575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vira novo requisito + entra na matriz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7)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Trilha de auditoria + runbook (dossiê §9)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Entregar: </a:t>
            </a:r>
            <a:r>
              <a:rPr sz="1800">
                <a:solidFill>
                  <a:srgbClr val="212121"/>
                </a:solidFill>
                <a:latin typeface="Open Sans"/>
              </a:rPr>
              <a:t>trilha de auditoria funcionando: append-only, hash-chain, sem PII.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Runbook: </a:t>
            </a:r>
            <a:r>
              <a:rPr sz="1800">
                <a:solidFill>
                  <a:srgbClr val="212121"/>
                </a:solidFill>
                <a:latin typeface="Open Sans"/>
              </a:rPr>
              <a:t>os 6 passos da resposta ao vazamento de laudo, preenchidos (§9.1).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Notificação: </a:t>
            </a:r>
            <a:r>
              <a:rPr sz="1800">
                <a:solidFill>
                  <a:srgbClr val="212121"/>
                </a:solidFill>
                <a:latin typeface="Open Sans"/>
              </a:rPr>
              <a:t>quando/prazo/conteúdo da comunicação à ANPD e ao titular (art. 48, §9.2).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Integridade: </a:t>
            </a:r>
            <a:r>
              <a:rPr sz="1800">
                <a:solidFill>
                  <a:srgbClr val="212121"/>
                </a:solidFill>
                <a:latin typeface="Open Sans"/>
              </a:rPr>
              <a:t>mostre que adulterar uma entrada do log é detectável.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Pronto quando: </a:t>
            </a:r>
            <a:r>
              <a:rPr sz="1800">
                <a:solidFill>
                  <a:srgbClr val="212121"/>
                </a:solidFill>
                <a:latin typeface="Open Sans"/>
              </a:rPr>
              <a:t>trilha íntegra + runbook completo + regra do art. 48 definida.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