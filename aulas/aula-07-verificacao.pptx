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Aula 7. Corrigir não basta: é preciso PROVAR que a correção funciona e não regride. Vemos os tipos de teste de segurança e onde cada um entra no CI/CD. Entregável: testes que exercitam os controles + evidências no pipeline (Fase 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teste enxerga uma fatia. SAST lê o código-fonte (bom para SQLi, hardcoded secret); DAST ataca a app viva (bom para headers, config, path traversal); SCA cuida das dependências; pentest traz a visão humana do atacante. IDOR e RBAC são falhas LÓGICAS — não aparecem em scanner genérico; precisam de teste de segurança escrito.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testes se distribuem ao longo do pipeline (shift-left à esquerda, shift-right à direita). Rápidos e baratos cedo (linter, SAST, secret scan a cada commit); caros e profundos depois (DAST no pre-deploy, pentest 1-2x por ano). No VidaPlus, o pipeline já traz SAST, SCA, DAST (ZAP) e um gate de testes de segurança com MySQL.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Verificação pergunta 'construímos o produto certo?' (atende à especificação). Validação pergunta 'construímos a coisa certa?' (resolve o risco real; há ameaça sem requisito?). As duas são necessárias: um controle pode passar no teste (verificado) e ainda assim deixar uma ameaça descoberta (falha de validação).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teste só prova algo se FALHA quando a proteção some ('quebrar para ver vermelho'). Este cenário BDD é o teste de aceite do IDOR: no legado ele falha (o app devolve 200); após a correção, passa (403). É a evidência que sustenta a linha na matriz de rastreabilidade.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Escreva o teste que exercita o controle da sua PoC e ligue os scanners ao CI como evidência. Quando a correção estiver sólida, torne o gate BLOQUEANTE (remova o continue-on-error) — a partir daí, qualquer regressão barra o merge. Uma linha da matriz sem teste = requisito NÃO verificado.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"/>
            <a:ext cx="390906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331720"/>
            <a:ext cx="11247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7CB342"/>
                </a:solidFill>
                <a:latin typeface="Open Sans"/>
              </a:rPr>
              <a:t>Aula 7 — Verificação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D7A3D"/>
                </a:solidFill>
                <a:latin typeface="Open Sans"/>
              </a:rPr>
              <a:t>SAST, DAST, SCA e testes de segurança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616161"/>
                </a:solidFill>
                <a:latin typeface="Open Sans"/>
              </a:rPr>
              <a:t>Security Testing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4648" y="480060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616161"/>
                </a:solidFill>
                <a:latin typeface="Open Sans"/>
              </a:rPr>
              <a:t>TADS · Segurança em Sistemas Computacionais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Prof. Dr. Alex Mulattieri Suarez Orozco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PARTE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Open Sans"/>
              </a:rPr>
              <a:t>Tipos de teste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CD7C0"/>
                </a:solidFill>
                <a:latin typeface="Open Sans"/>
              </a:rPr>
              <a:t>Cada um vê uma parte diferente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98348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Tipos de teste de segurança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Use combinados — nenhum sozinho basta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43100" y="166420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43100" y="17556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SAST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lê o código sem executar (Semgrep, CodeQL)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46304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48172" y="166420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8172" y="17556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37744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DAST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88036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ataca a aplicação rodando (OWASP ZAP)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21624" y="146304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53244" y="166420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53244" y="17556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237744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IAST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0224" y="288036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instrumenta a app durante os testes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02336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43100" y="422452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43100" y="43159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93776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SCA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4068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analisa dependências e busca CVEs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6552" y="402336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48172" y="422452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8172" y="43159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2" y="493776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Fuzzing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544068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bombardeia com entradas inesperadas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21624" y="4023360"/>
            <a:ext cx="3703320" cy="246888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53244" y="4224528"/>
            <a:ext cx="640080" cy="64008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53244" y="43159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Open San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04504" y="493776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7A3D"/>
                </a:solidFill>
                <a:latin typeface="Open Sans"/>
              </a:rPr>
              <a:t>Pentest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50224" y="544068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especialista humano simula o ataque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Onde cada teste entra no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Sequência típica em pipeline maduro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08760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09928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Pre-commit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70992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Linter · secret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2821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segundos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313432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404872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Commit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5146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SAST · secret 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3288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segundos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118103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209544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319272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31927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SCA · license scan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337559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segundos a minutos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922775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4014215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123943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123943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IAST · testes de integração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142231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minutos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727448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4818888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928616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Pre-deploy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4928616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DAST · IaC scan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94690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minutos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5532119"/>
            <a:ext cx="11384280" cy="749808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5623559"/>
            <a:ext cx="1920240" cy="566927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733287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Produção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80" y="5733287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D7A3D"/>
                </a:solidFill>
                <a:latin typeface="Open Sans"/>
              </a:rPr>
              <a:t>RASP · WAF · monitoração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751575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12121"/>
                </a:solidFill>
                <a:latin typeface="Open Sans"/>
              </a:rPr>
              <a:t>contínuo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PARTE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Open Sans"/>
              </a:rPr>
              <a:t>Requisito como teste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CD7C0"/>
                </a:solidFill>
                <a:latin typeface="Open Sans"/>
              </a:rPr>
              <a:t>Verificação e validação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98348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Verificação × Validação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Construímos certo? × Construímos a coisa certa?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54480"/>
            <a:ext cx="5486400" cy="640080"/>
          </a:xfrm>
          <a:prstGeom prst="roundRect">
            <a:avLst/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6420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Verificação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240280"/>
            <a:ext cx="5486400" cy="4160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B71C1C"/>
                </a:solidFill>
                <a:latin typeface="Open Sans"/>
              </a:rPr>
              <a:t>✗  </a:t>
            </a:r>
            <a:r>
              <a:rPr sz="1500">
                <a:solidFill>
                  <a:srgbClr val="212121"/>
                </a:solidFill>
                <a:latin typeface="Open Sans"/>
              </a:rPr>
              <a:t>Atende ao requisito especificado?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B71C1C"/>
                </a:solidFill>
                <a:latin typeface="Open Sans"/>
              </a:rPr>
              <a:t>✗  </a:t>
            </a:r>
            <a:r>
              <a:rPr sz="1500">
                <a:solidFill>
                  <a:srgbClr val="212121"/>
                </a:solidFill>
                <a:latin typeface="Open Sans"/>
              </a:rPr>
              <a:t>Testes do ASVS / casos de aceite.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B71C1C"/>
                </a:solidFill>
                <a:latin typeface="Open Sans"/>
              </a:rPr>
              <a:t>✗  </a:t>
            </a:r>
            <a:r>
              <a:rPr sz="1500">
                <a:solidFill>
                  <a:srgbClr val="212121"/>
                </a:solidFill>
                <a:latin typeface="Open Sans"/>
              </a:rPr>
              <a:t>SAST, DAST, SCA, pentest.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B71C1C"/>
                </a:solidFill>
                <a:latin typeface="Open Sans"/>
              </a:rPr>
              <a:t>✗  </a:t>
            </a:r>
            <a:r>
              <a:rPr sz="1500">
                <a:solidFill>
                  <a:srgbClr val="212121"/>
                </a:solidFill>
                <a:latin typeface="Open Sans"/>
              </a:rPr>
              <a:t>Conferir a rastreabilidade.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486400" cy="640080"/>
          </a:xfrm>
          <a:prstGeom prst="round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6420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Validação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240280"/>
            <a:ext cx="5486400" cy="4160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42316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7CB342"/>
                </a:solidFill>
                <a:latin typeface="Open Sans"/>
              </a:rPr>
              <a:t>✓  </a:t>
            </a:r>
            <a:r>
              <a:rPr sz="1500">
                <a:solidFill>
                  <a:srgbClr val="212121"/>
                </a:solidFill>
                <a:latin typeface="Open Sans"/>
              </a:rPr>
              <a:t>Resolve o risco real do negócio?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7CB342"/>
                </a:solidFill>
                <a:latin typeface="Open Sans"/>
              </a:rPr>
              <a:t>✓  </a:t>
            </a:r>
            <a:r>
              <a:rPr sz="1500">
                <a:solidFill>
                  <a:srgbClr val="212121"/>
                </a:solidFill>
                <a:latin typeface="Open Sans"/>
              </a:rPr>
              <a:t>Cobre a ameaça que o motivou?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7CB342"/>
                </a:solidFill>
                <a:latin typeface="Open Sans"/>
              </a:rPr>
              <a:t>✓  </a:t>
            </a:r>
            <a:r>
              <a:rPr sz="1500">
                <a:solidFill>
                  <a:srgbClr val="212121"/>
                </a:solidFill>
                <a:latin typeface="Open Sans"/>
              </a:rPr>
              <a:t>Há lacuna (ameaça sem requisito)?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7CB342"/>
                </a:solidFill>
                <a:latin typeface="Open Sans"/>
              </a:rPr>
              <a:t>✓  </a:t>
            </a:r>
            <a:r>
              <a:rPr sz="1500">
                <a:solidFill>
                  <a:srgbClr val="212121"/>
                </a:solidFill>
                <a:latin typeface="Open Sans"/>
              </a:rPr>
              <a:t>O risco residual é aceitável?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Exemplo: teste anti-IDOR (BDD)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O requisito vira teste executável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11384280" cy="50292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Cenário: </a:t>
            </a:r>
            <a:r>
              <a:rPr sz="1800">
                <a:solidFill>
                  <a:srgbClr val="212121"/>
                </a:solidFill>
                <a:latin typeface="Open Sans"/>
              </a:rPr>
              <a:t>A autenticado tenta o exame de B.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Dado: </a:t>
            </a:r>
            <a:r>
              <a:rPr sz="1800">
                <a:solidFill>
                  <a:srgbClr val="212121"/>
                </a:solidFill>
                <a:latin typeface="Open Sans"/>
              </a:rPr>
              <a:t>paciente A logado; existe o exame 222, do paciente B.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Quando: </a:t>
            </a:r>
            <a:r>
              <a:rPr sz="1800">
                <a:solidFill>
                  <a:srgbClr val="212121"/>
                </a:solidFill>
                <a:latin typeface="Open Sans"/>
              </a:rPr>
              <a:t>GET /api/exames/222 com o token de A.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Então: </a:t>
            </a:r>
            <a:r>
              <a:rPr sz="1800">
                <a:solidFill>
                  <a:srgbClr val="212121"/>
                </a:solidFill>
                <a:latin typeface="Open Sans"/>
              </a:rPr>
              <a:t>HTTP 403 e nenhum metadado de B na resposta.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Prova negativa: </a:t>
            </a:r>
            <a:r>
              <a:rPr sz="1800">
                <a:solidFill>
                  <a:srgbClr val="212121"/>
                </a:solidFill>
                <a:latin typeface="Open Sans"/>
              </a:rPr>
              <a:t>se a proteção some, o teste fica vermelho e bloqueia o merge.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B342"/>
                </a:solidFill>
                <a:latin typeface="Open Sans"/>
              </a:rPr>
              <a:t>PARTE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Open Sans"/>
              </a:rPr>
              <a:t>No VidaPlus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CD7C0"/>
                </a:solidFill>
                <a:latin typeface="Open Sans"/>
              </a:rPr>
              <a:t>A etapa desta semana (Fase 5)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983480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D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Open Sans"/>
              </a:rPr>
              <a:t>Entregável da Fase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E0E8DB"/>
                </a:solidFill>
                <a:latin typeface="Open Sans"/>
              </a:rPr>
              <a:t>Testes + evidências no CI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11384280" cy="502920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7CB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Teste do controle: </a:t>
            </a:r>
            <a:r>
              <a:rPr sz="1800">
                <a:solidFill>
                  <a:srgbClr val="212121"/>
                </a:solidFill>
                <a:latin typeface="Open Sans"/>
              </a:rPr>
              <a:t>ex.: A pede exame de B -&gt; HTTP 403, nada vazado.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Scanners: </a:t>
            </a:r>
            <a:r>
              <a:rPr sz="1800">
                <a:solidFill>
                  <a:srgbClr val="212121"/>
                </a:solidFill>
                <a:latin typeface="Open Sans"/>
              </a:rPr>
              <a:t>leia e interprete os relatórios de SAST/DAST/SCA do pipeline.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Gate bloqueante: </a:t>
            </a:r>
            <a:r>
              <a:rPr sz="1800">
                <a:solidFill>
                  <a:srgbClr val="212121"/>
                </a:solidFill>
                <a:latin typeface="Open Sans"/>
              </a:rPr>
              <a:t>torne bloqueante o gate da classe corrigida.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Evidência real: </a:t>
            </a:r>
            <a:r>
              <a:rPr sz="1800">
                <a:solidFill>
                  <a:srgbClr val="212121"/>
                </a:solidFill>
                <a:latin typeface="Open Sans"/>
              </a:rPr>
              <a:t>log do CI, print, relatório — anexe ao dossiê.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2000" b="1">
                <a:solidFill>
                  <a:srgbClr val="7CB342"/>
                </a:solidFill>
                <a:latin typeface="Open Sans"/>
              </a:rPr>
              <a:t>▸ </a:t>
            </a:r>
            <a:r>
              <a:rPr sz="1800" b="1">
                <a:solidFill>
                  <a:srgbClr val="2D7A3D"/>
                </a:solidFill>
                <a:latin typeface="Open Sans"/>
              </a:rPr>
              <a:t>Regra de ouro: </a:t>
            </a:r>
            <a:r>
              <a:rPr sz="1800">
                <a:solidFill>
                  <a:srgbClr val="212121"/>
                </a:solidFill>
                <a:latin typeface="Open Sans"/>
              </a:rPr>
              <a:t>requisito só está pronto com teste E evidência.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16161"/>
                </a:solidFill>
                <a:latin typeface="Ope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232" y="548640"/>
            <a:ext cx="390906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194560"/>
            <a:ext cx="11247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800" b="1" i="0">
                <a:solidFill>
                  <a:srgbClr val="7CB342"/>
                </a:solidFill>
                <a:latin typeface="Open Sans"/>
              </a:rPr>
              <a:t>Perguntas?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3977639"/>
            <a:ext cx="1828800" cy="25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Open Sans"/>
              </a:rPr>
              <a:t>Prof. Dr. Alex Mulattieri Suarez Orozco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0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CCD7C0"/>
                </a:solidFill>
                <a:latin typeface="Open Sans"/>
              </a:rPr>
              <a:t>alexorozco@ifsul.edu.br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CD7C0"/>
                </a:solidFill>
                <a:latin typeface="Open Sans"/>
              </a:rPr>
              <a:t>IFSul · Câmpus Sapucaia do Sul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