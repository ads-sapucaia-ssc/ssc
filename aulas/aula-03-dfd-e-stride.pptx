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3172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7CB342"/>
                </a:solidFill>
                <a:latin typeface="Open Sans"/>
              </a:rPr>
              <a:t>Aula 3 — DFD &amp; STRIDE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D7A3D"/>
                </a:solidFill>
                <a:latin typeface="Open Sans"/>
              </a:rPr>
              <a:t>Threat modeling como gerador de requisitos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616161"/>
                </a:solidFill>
                <a:latin typeface="Open Sans"/>
              </a:rPr>
              <a:t>Threat Modeling · STRIDE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480060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616161"/>
                </a:solidFill>
                <a:latin typeface="Open Sans"/>
              </a:rPr>
              <a:t>TADS · Segurança em Sistemas Computacionais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Prof. Dr. Alex Mulattieri Suarez Orozco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Threat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Descobrir como o sistema pode ser atacado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As 4 perguntas (Shostack)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O método de threat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D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D7A3D"/>
                </a:solidFill>
                <a:latin typeface="Open Sans"/>
              </a:rPr>
              <a:t>O que construímos?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DFD, componentes, trust boundaries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E65100"/>
                </a:solidFill>
                <a:latin typeface="Open Sans"/>
              </a:rPr>
              <a:t>O que pode dar errado?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aplicar STRIDE por elemento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976D2"/>
                </a:solidFill>
                <a:latin typeface="Open Sans"/>
              </a:rPr>
              <a:t>O que vamos fazer?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mitigar/transferir/aceitar/eliminar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7CB342"/>
                </a:solidFill>
                <a:latin typeface="Open Sans"/>
              </a:rPr>
              <a:t>Fizemos um bom trabalho?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validar cobertura e atualizar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DFD com trust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A base visual do modelo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Entidade externa: </a:t>
            </a:r>
            <a:r>
              <a:rPr sz="1800">
                <a:solidFill>
                  <a:srgbClr val="212121"/>
                </a:solidFill>
                <a:latin typeface="Open Sans"/>
              </a:rPr>
              <a:t>usuário, navegador, serviço de terceiros.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Processo: </a:t>
            </a:r>
            <a:r>
              <a:rPr sz="1800">
                <a:solidFill>
                  <a:srgbClr val="212121"/>
                </a:solidFill>
                <a:latin typeface="Open Sans"/>
              </a:rPr>
              <a:t>autenticar, recuperar exame, publicar laudo.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Armazenamento: </a:t>
            </a:r>
            <a:r>
              <a:rPr sz="1800">
                <a:solidFill>
                  <a:srgbClr val="212121"/>
                </a:solidFill>
                <a:latin typeface="Open Sans"/>
              </a:rPr>
              <a:t>banco, bucket de PDFs, logs.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Fluxo: </a:t>
            </a:r>
            <a:r>
              <a:rPr sz="1800">
                <a:solidFill>
                  <a:srgbClr val="212121"/>
                </a:solidFill>
                <a:latin typeface="Open Sans"/>
              </a:rPr>
              <a:t>credenciais, id do exame, PDF.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Trust boundary: </a:t>
            </a:r>
            <a:r>
              <a:rPr sz="1800">
                <a:solidFill>
                  <a:srgbClr val="212121"/>
                </a:solidFill>
                <a:latin typeface="Open Sans"/>
              </a:rPr>
              <a:t>onde o dado cruza zonas de confiança — ali vão os controles.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STRIDE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Cada letra = uma ameaça × uma propriedade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STRIDE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Microsoft · categoria de ameaça vs propriedade violada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43100" y="166420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43100" y="1755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Spoofing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vs Authenticity — cookie roubado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46304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8172" y="166420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8172" y="1755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Tampering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8803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vs Integrity — alterar payload/parâmetro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21624" y="146304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53244" y="166420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53244" y="1755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Repudiation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0224" y="28803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vs Non-repudiation — faltam logs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02336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43100" y="422452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43100" y="4315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Info disclosure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vs Confidentiality — SQLi vaza tabela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402336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48172" y="422452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8172" y="4315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Denial of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54406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vs Availability — exaustão de recursos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21624" y="402336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53244" y="422452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53244" y="4315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04504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Elevation of Priv.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0224" y="54406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vs Authorization — IDOR, JWT alg:none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STRIDE -&gt; requisito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Cada ameaça deriva um requisito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Spoofing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70992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Authenticity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2821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autenticar toda requisição; MFA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13432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404872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Tampering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514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assinar/validar; TLS 1.3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118103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209544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1927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Repudiation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31927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Non-repudiation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59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trilha de auditoria assinada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922775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014215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23943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Info disclosure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123943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Confidentiality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42231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cifrar; não expor stack trace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727448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818888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928616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Elevation of Priv.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92861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Authorization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94690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deny by default; validar no servidor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No VidaPlus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A etapa desta semana (Fase 2a)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Entregável da Fase 2a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Modelo de ameaças de segurança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DFD: </a:t>
            </a:r>
            <a:r>
              <a:rPr sz="1800">
                <a:solidFill>
                  <a:srgbClr val="212121"/>
                </a:solidFill>
                <a:latin typeface="Open Sans"/>
              </a:rPr>
              <a:t>desenhe o recorte (login, download de laudo) com fronteiras.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STRIDE-per-element: </a:t>
            </a:r>
            <a:r>
              <a:rPr sz="1800">
                <a:solidFill>
                  <a:srgbClr val="212121"/>
                </a:solidFill>
                <a:latin typeface="Open Sans"/>
              </a:rPr>
              <a:t>para cada elemento, marque as ameaças e o requisito.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Árvore de ataque: </a:t>
            </a:r>
            <a:r>
              <a:rPr sz="1800">
                <a:solidFill>
                  <a:srgbClr val="212121"/>
                </a:solidFill>
                <a:latin typeface="Open Sans"/>
              </a:rPr>
              <a:t>decomponha o objetivo do atacante para o laudo.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Derive requisitos: </a:t>
            </a:r>
            <a:r>
              <a:rPr sz="1800">
                <a:solidFill>
                  <a:srgbClr val="212121"/>
                </a:solidFill>
                <a:latin typeface="Open Sans"/>
              </a:rPr>
              <a:t>cada ameaça concreta vira um requisito testável.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Alvo do exercício: </a:t>
            </a:r>
            <a:r>
              <a:rPr sz="1800">
                <a:solidFill>
                  <a:srgbClr val="212121"/>
                </a:solidFill>
                <a:latin typeface="Open Sans"/>
              </a:rPr>
              <a:t>o IDOR no download (paciente A baixa exame de B).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548640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800" b="1" i="0">
                <a:solidFill>
                  <a:srgbClr val="7CB342"/>
                </a:solidFill>
                <a:latin typeface="Open Sans"/>
              </a:rPr>
              <a:t>Perguntas?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3977639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Prof. Dr. Alex Mulattieri Suarez Orozco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CCD7C0"/>
                </a:solidFill>
                <a:latin typeface="Open Sans"/>
              </a:rPr>
              <a:t>alexorozco@ifsul.edu.br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CD7C0"/>
                </a:solidFill>
                <a:latin typeface="Open Sans"/>
              </a:rPr>
              <a:t>IFSul · Câmpus Sapucaia do Sul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