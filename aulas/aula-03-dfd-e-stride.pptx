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3. Threat modeling é a atividade de descobrir, de forma sistemática, como o sistema pode ser atacado — e derivar requisitos de cada ameaça. Entregável: DFD + STRIDE-per-element + árvore de ataque do VidaPlus (Fase 2a).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Adam Shostack (Microsoft) resume threat modeling em 4 perguntas. Não é 'adivinhar ataques': parte-se de um desenho do sistema (pergunta 1), aplica-se um método sistemático de ameaças (pergunta 2), decide-se o que fazer com cada uma (pergunta 3) e valida-se a cobertura (pergunta 4). O resultado alimenta requisitos.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DFD (Data Flow Diagram) mostra COMO os dados circulam. A trust boundary é a linha onde o nível de confiança muda (internet -&gt; aplicação -&gt; banco). Toda travessia de fronteira é um ponto de controle obrigatório: ali entram autenticação, validação de entrada e log. É nas fronteiras que a maioria das ameaças 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STRIDE é o método mais usado. Cada letra é uma categoria de ameaça mapeada a uma propriedade de segurança violada. A técnica prática é STRIDE-per-element: para cada elemento do DFD, pergunte quais das 6 ameaças se aplicam. Isso torna a busca sistemática, em vez de depender de inspiração.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de tabela STRIDE-per-element aplicada ao VidaPlus. Note como cada linha termina num REQUISITO de mitigação — é assim que o threat modeling 'gera' requisitos. A última linha é o IDOR: o download de exame precisa validar, no servidor, que o exame pertence ao usuário; senão, HTTP 403 sem vazar metadados.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árvore de ataque (Bruce Schneier) tem a raiz = objetivo do atacante e folhas = passos concretos, cada um com custo/esforço; a defesa de cada folha é um requisito. Priorize defender o caminho mais BARATO para o atacante. Todo o modelo desta fase alimenta o catálogo de requisitos (Aula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3 — DFD &amp; STRIDE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Threat modeling como gerador de requisitos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Threat Modeling · STRIDE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Threat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Descobrir como o sistema pode ser atacado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As 4 perguntas (Shostack)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método, em quatro perguntas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O que construímos?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desenhar o DFD com componentes e fronteiras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O que pode dar errado?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aplicar STRIDE a cada elemento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O que vamos fazer?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para cada ameaça: mitigar, transferir, aceitar ou eliminar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Fizemos um bom trabalho?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validar a cobertura e atualizar quando mudar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DFD com trust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 base visual — notação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Entidade externa: </a:t>
            </a:r>
            <a:r>
              <a:rPr sz="1800">
                <a:solidFill>
                  <a:srgbClr val="212121"/>
                </a:solidFill>
                <a:latin typeface="Open Sans"/>
              </a:rPr>
              <a:t>retângulo — usuário, navegador, serviço de terceiros.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Processo: </a:t>
            </a:r>
            <a:r>
              <a:rPr sz="1800">
                <a:solidFill>
                  <a:srgbClr val="212121"/>
                </a:solidFill>
                <a:latin typeface="Open Sans"/>
              </a:rPr>
              <a:t>círculo — autenticar, recuperar exame, publicar laudo.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Armazenamento: </a:t>
            </a:r>
            <a:r>
              <a:rPr sz="1800">
                <a:solidFill>
                  <a:srgbClr val="212121"/>
                </a:solidFill>
                <a:latin typeface="Open Sans"/>
              </a:rPr>
              <a:t>duas linhas — banco, bucket de PDFs, logs.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Fluxo de dados: </a:t>
            </a:r>
            <a:r>
              <a:rPr sz="1800">
                <a:solidFill>
                  <a:srgbClr val="212121"/>
                </a:solidFill>
                <a:latin typeface="Open Sans"/>
              </a:rPr>
              <a:t>seta — credenciais, id do exame, PDF.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Trust boundary: </a:t>
            </a:r>
            <a:r>
              <a:rPr sz="1800">
                <a:solidFill>
                  <a:srgbClr val="212121"/>
                </a:solidFill>
                <a:latin typeface="Open Sans"/>
              </a:rPr>
              <a:t>tracejado vermelho — onde o dado cruza zonas de confiança.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STRIDE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Cada letra = uma ameaça × uma propriedade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STRIDE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Microsoft · a ameaça e a propriedade que ela viola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Spoofing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Authenticity — passar-se por outro (cookie roubado)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Tampering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Integrity — alterar request, payload, parâmetro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Repudiation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Non-repudiation — negar ação; faltam logs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Info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Confidentiality — SQLi vaza tabela; stack trace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Denial of Service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Availability — exaustão de recursos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Elevation of Priv.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Authorization — IDOR, JWT alg:none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STRIDE-per-element (exemplo)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Cada elemento × ameaça -&gt;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Login (processo)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Spoofing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MFA; bloqueio após N tentativas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Token de sessão (fluxo)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Tampering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JWT assinado; rejeitar alg:none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Log (armazenamento)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Repudiation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logs assinados e imutáveis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Banco (armazenamento)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Info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AES-256 em repouso; acesso mínimo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Download de exame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Elevation of Priv.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validar ownership no servidor -&gt; 403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2a)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Modelo de ameaças de segurança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DFD: </a:t>
            </a:r>
            <a:r>
              <a:rPr sz="1800">
                <a:solidFill>
                  <a:srgbClr val="212121"/>
                </a:solidFill>
                <a:latin typeface="Open Sans"/>
              </a:rPr>
              <a:t>desenhe o recorte (login, download de laudo) com as fronteiras.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STRIDE-per-element: </a:t>
            </a:r>
            <a:r>
              <a:rPr sz="1800">
                <a:solidFill>
                  <a:srgbClr val="212121"/>
                </a:solidFill>
                <a:latin typeface="Open Sans"/>
              </a:rPr>
              <a:t>para cada elemento, marque as ameaças e o requisito.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Árvore de ataque: </a:t>
            </a:r>
            <a:r>
              <a:rPr sz="1800">
                <a:solidFill>
                  <a:srgbClr val="212121"/>
                </a:solidFill>
                <a:latin typeface="Open Sans"/>
              </a:rPr>
              <a:t>decomponha o objetivo 'obter laudo de outro paciente'.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Derive requisitos: </a:t>
            </a:r>
            <a:r>
              <a:rPr sz="1800">
                <a:solidFill>
                  <a:srgbClr val="212121"/>
                </a:solidFill>
                <a:latin typeface="Open Sans"/>
              </a:rPr>
              <a:t>cada ameaça concreta vira um requisito testável.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Alvo do exercício: </a:t>
            </a:r>
            <a:r>
              <a:rPr sz="1800">
                <a:solidFill>
                  <a:srgbClr val="212121"/>
                </a:solidFill>
                <a:latin typeface="Open Sans"/>
              </a:rPr>
              <a:t>o IDOR no download (paciente A baixa o exame de B).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