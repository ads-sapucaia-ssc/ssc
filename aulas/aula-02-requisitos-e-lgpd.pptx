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92608"/>
            <a:ext cx="3909060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2331720"/>
            <a:ext cx="112471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4400" b="1" i="0">
                <a:solidFill>
                  <a:srgbClr val="7CB342"/>
                </a:solidFill>
                <a:latin typeface="Open Sans"/>
              </a:rPr>
              <a:t>Aula 2 — Requisitos &amp; LGPD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520440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2D7A3D"/>
                </a:solidFill>
                <a:latin typeface="Open Sans"/>
              </a:rPr>
              <a:t>Da elicitação ao catálogo de requisitos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20624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 i="1">
                <a:solidFill>
                  <a:srgbClr val="616161"/>
                </a:solidFill>
                <a:latin typeface="Open Sans"/>
              </a:rPr>
              <a:t>Security Requirements Engineering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5184648" y="4800600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525780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616161"/>
                </a:solidFill>
                <a:latin typeface="Open Sans"/>
              </a:rPr>
              <a:t>TADS · Segurança em Sistemas Computacionais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85216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7CB342"/>
                </a:solidFill>
                <a:latin typeface="Open Sans"/>
              </a:rPr>
              <a:t>Prof. Dr. Alex Mulattieri Suarez Orozco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7CB342"/>
                </a:solidFill>
                <a:latin typeface="Open Sans"/>
              </a:rPr>
              <a:t>PARTE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834640"/>
            <a:ext cx="112471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4600" b="1" i="0">
                <a:solidFill>
                  <a:srgbClr val="FFFFFF"/>
                </a:solidFill>
                <a:latin typeface="Open Sans"/>
              </a:rPr>
              <a:t>Fundamentos de requisitos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2976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 i="1">
                <a:solidFill>
                  <a:srgbClr val="CCD7C0"/>
                </a:solidFill>
                <a:latin typeface="Open Sans"/>
              </a:rPr>
              <a:t>O que são e por que existem</a:t>
            </a:r>
          </a:p>
        </p:txBody>
      </p:sp>
      <p:sp>
        <p:nvSpPr>
          <p:cNvPr id="6" name="Rectangle 5"/>
          <p:cNvSpPr/>
          <p:nvPr/>
        </p:nvSpPr>
        <p:spPr>
          <a:xfrm>
            <a:off x="5184648" y="4983480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O mito do 'RNF opcional'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Segurança é requisito de negócio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554480"/>
            <a:ext cx="5486400" cy="640080"/>
          </a:xfrm>
          <a:prstGeom prst="roundRect">
            <a:avLst/>
          </a:prstGeom>
          <a:solidFill>
            <a:srgbClr val="424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664208"/>
            <a:ext cx="5486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FFFFFF"/>
                </a:solidFill>
                <a:latin typeface="Open Sans"/>
              </a:rPr>
              <a:t>Visão equivocada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2240280"/>
            <a:ext cx="5486400" cy="416052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9E9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423160"/>
            <a:ext cx="50292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 b="1">
                <a:solidFill>
                  <a:srgbClr val="B71C1C"/>
                </a:solidFill>
                <a:latin typeface="Open Sans"/>
              </a:rPr>
              <a:t>✗  </a:t>
            </a:r>
            <a:r>
              <a:rPr sz="1500">
                <a:solidFill>
                  <a:srgbClr val="212121"/>
                </a:solidFill>
                <a:latin typeface="Open Sans"/>
              </a:rPr>
              <a:t>'É RNF, dá para deixar depois.'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 b="1">
                <a:solidFill>
                  <a:srgbClr val="B71C1C"/>
                </a:solidFill>
                <a:latin typeface="Open Sans"/>
              </a:rPr>
              <a:t>✗  </a:t>
            </a:r>
            <a:r>
              <a:rPr sz="1500">
                <a:solidFill>
                  <a:srgbClr val="212121"/>
                </a:solidFill>
                <a:latin typeface="Open Sans"/>
              </a:rPr>
              <a:t>'Pentest no fim resolve.'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 b="1">
                <a:solidFill>
                  <a:srgbClr val="B71C1C"/>
                </a:solidFill>
                <a:latin typeface="Open Sans"/>
              </a:rPr>
              <a:t>✗  </a:t>
            </a:r>
            <a:r>
              <a:rPr sz="1500">
                <a:solidFill>
                  <a:srgbClr val="212121"/>
                </a:solidFill>
                <a:latin typeface="Open Sans"/>
              </a:rPr>
              <a:t>Funcionalidade primeiro.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 b="1">
                <a:solidFill>
                  <a:srgbClr val="B71C1C"/>
                </a:solidFill>
                <a:latin typeface="Open Sans"/>
              </a:rPr>
              <a:t>✗  </a:t>
            </a:r>
            <a:r>
              <a:rPr sz="1500">
                <a:solidFill>
                  <a:srgbClr val="212121"/>
                </a:solidFill>
                <a:latin typeface="Open Sans"/>
              </a:rPr>
              <a:t>User stories só do uso legítimo.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554480"/>
            <a:ext cx="5486400" cy="640080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60" y="1664208"/>
            <a:ext cx="5486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FFFFFF"/>
                </a:solidFill>
                <a:latin typeface="Open Sans"/>
              </a:rPr>
              <a:t>A realidade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2240280"/>
            <a:ext cx="5486400" cy="416052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2423160"/>
            <a:ext cx="50292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 b="1">
                <a:solidFill>
                  <a:srgbClr val="7CB342"/>
                </a:solidFill>
                <a:latin typeface="Open Sans"/>
              </a:rPr>
              <a:t>✓  </a:t>
            </a:r>
            <a:r>
              <a:rPr sz="1500">
                <a:solidFill>
                  <a:srgbClr val="212121"/>
                </a:solidFill>
                <a:latin typeface="Open Sans"/>
              </a:rPr>
              <a:t>Vazamento = prejuízo legal.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 b="1">
                <a:solidFill>
                  <a:srgbClr val="7CB342"/>
                </a:solidFill>
                <a:latin typeface="Open Sans"/>
              </a:rPr>
              <a:t>✓  </a:t>
            </a:r>
            <a:r>
              <a:rPr sz="1500">
                <a:solidFill>
                  <a:srgbClr val="212121"/>
                </a:solidFill>
                <a:latin typeface="Open Sans"/>
              </a:rPr>
              <a:t>Falha de segurança quebra o negócio.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 b="1">
                <a:solidFill>
                  <a:srgbClr val="7CB342"/>
                </a:solidFill>
                <a:latin typeface="Open Sans"/>
              </a:rPr>
              <a:t>✓  </a:t>
            </a:r>
            <a:r>
              <a:rPr sz="1500">
                <a:solidFill>
                  <a:srgbClr val="212121"/>
                </a:solidFill>
                <a:latin typeface="Open Sans"/>
              </a:rPr>
              <a:t>Conformidade é obrigação.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600" b="1">
                <a:solidFill>
                  <a:srgbClr val="7CB342"/>
                </a:solidFill>
                <a:latin typeface="Open Sans"/>
              </a:rPr>
              <a:t>✓  </a:t>
            </a:r>
            <a:r>
              <a:rPr sz="1500">
                <a:solidFill>
                  <a:srgbClr val="212121"/>
                </a:solidFill>
                <a:latin typeface="Open Sans"/>
              </a:rPr>
              <a:t>Confiança do usuário é o produto.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RFS × RGS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O que o sistema faz para se proteger × quanta confiança temos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46304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2D7A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3736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2D7A3D"/>
                </a:solidFill>
                <a:latin typeface="Open Sans"/>
              </a:rPr>
              <a:t>RFS — mecanismo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37744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autenticação, autorização, cripto, auditoria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46304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197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173736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1976D2"/>
                </a:solidFill>
                <a:latin typeface="Open Sans"/>
              </a:rPr>
              <a:t>RGS — garantia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237744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teste, cobertura, nível ASVS, atestação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" y="406908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E651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E65100"/>
                </a:solidFill>
                <a:latin typeface="Open Sans"/>
              </a:rPr>
              <a:t>Analogia (RFS)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98348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'a porta deve ter fechadura'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406908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75120" y="434340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7CB342"/>
                </a:solidFill>
                <a:latin typeface="Open Sans"/>
              </a:rPr>
              <a:t>Analogia (RGS)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0" y="498348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'a fechadura deve ser testada e certificada'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As 4 fontes dos requisitos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Onde 'garimpar' o que proteger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46304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2D7A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3736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2D7A3D"/>
                </a:solidFill>
                <a:latin typeface="Open Sans"/>
              </a:rPr>
              <a:t>Negócio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37744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ativos críticos, apetite a risco, SLAs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46304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173736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B71C1C"/>
                </a:solidFill>
                <a:latin typeface="Open Sans"/>
              </a:rPr>
              <a:t>Legal/Regulatório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237744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LGPD, PCI-DSS, HIPAA — não-negociáveis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" y="406908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197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1976D2"/>
                </a:solidFill>
                <a:latin typeface="Open Sans"/>
              </a:rPr>
              <a:t>Padrões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98348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OWASP ASVS/Top 10, NIST, CIS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406908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E651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75120" y="434340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E65100"/>
                </a:solidFill>
                <a:latin typeface="Open Sans"/>
              </a:rPr>
              <a:t>Ameaças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0" y="498348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threat modeling, abuse cases, incidentes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7CB342"/>
                </a:solidFill>
                <a:latin typeface="Open Sans"/>
              </a:rPr>
              <a:t>PARTE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834640"/>
            <a:ext cx="112471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6000" b="1" i="0">
                <a:solidFill>
                  <a:srgbClr val="FFFFFF"/>
                </a:solidFill>
                <a:latin typeface="Open Sans"/>
              </a:rPr>
              <a:t>LGPD como fonte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2976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 i="1">
                <a:solidFill>
                  <a:srgbClr val="CCD7C0"/>
                </a:solidFill>
                <a:latin typeface="Open Sans"/>
              </a:rPr>
              <a:t>Cada regulação vira exigência concreta</a:t>
            </a:r>
          </a:p>
        </p:txBody>
      </p:sp>
      <p:sp>
        <p:nvSpPr>
          <p:cNvPr id="6" name="Rectangle 5"/>
          <p:cNvSpPr/>
          <p:nvPr/>
        </p:nvSpPr>
        <p:spPr>
          <a:xfrm>
            <a:off x="5184648" y="4983480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LGPD no VidaPlus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Artigos que mais impactam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508760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600200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709928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Art.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97480" y="1709928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Princípios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728216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finalidade, minimização, segurança, accountability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2313432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02920" y="2404872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514600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Art. 7/11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97480" y="2514600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Bases legais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532887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dados sensíveis de saúde -&gt; regime reforçado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3118103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02920" y="3209544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3319272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Art. 18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97480" y="3319272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Direitos do titular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337559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acesso, portabilidade, eliminação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3922775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02920" y="4014215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4123943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Art. 8/9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97480" y="4123943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Consentimento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4142231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específico, versionado, revogável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11480" y="4727448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502920" y="4818888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" y="4928616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Art. 46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97480" y="4928616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Segurança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92240" y="4946904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cripto, controle de acesso, auditoria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11480" y="5532119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502920" y="5623559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2920" y="5733287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Art. 38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697480" y="5733287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RIPD/DPIA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92240" y="5751575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relatório de impacto em alto risco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Como escrever um bom requisito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SMART e testável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46304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2D7A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3736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2D7A3D"/>
                </a:solidFill>
                <a:latin typeface="Open Sans"/>
              </a:rPr>
              <a:t>Específico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37744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sem ambiguidade — evite 'ser seguro'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46304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2D7A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173736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2D7A3D"/>
                </a:solidFill>
                <a:latin typeface="Open Sans"/>
              </a:rPr>
              <a:t>Mensurável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237744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verificável por teste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" y="406908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197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1976D2"/>
                </a:solidFill>
                <a:latin typeface="Open Sans"/>
              </a:rPr>
              <a:t>Rastreável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98348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ligado a ativo, ameaça e fonte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406908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E651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75120" y="434340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E65100"/>
                </a:solidFill>
                <a:latin typeface="Open Sans"/>
              </a:rPr>
              <a:t>Ruim -&gt; Bom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0" y="498348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'proteger senhas' -&gt; 'Argon2id, salt 16B, MD5 proibido'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7CB342"/>
                </a:solidFill>
                <a:latin typeface="Open Sans"/>
              </a:rPr>
              <a:t>PARTE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834640"/>
            <a:ext cx="112471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6000" b="1" i="0">
                <a:solidFill>
                  <a:srgbClr val="FFFFFF"/>
                </a:solidFill>
                <a:latin typeface="Open Sans"/>
              </a:rPr>
              <a:t>No VidaPlus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2976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 i="1">
                <a:solidFill>
                  <a:srgbClr val="CCD7C0"/>
                </a:solidFill>
                <a:latin typeface="Open Sans"/>
              </a:rPr>
              <a:t>A etapa desta semana (Fase 1)</a:t>
            </a:r>
          </a:p>
        </p:txBody>
      </p:sp>
      <p:sp>
        <p:nvSpPr>
          <p:cNvPr id="6" name="Rectangle 5"/>
          <p:cNvSpPr/>
          <p:nvPr/>
        </p:nvSpPr>
        <p:spPr>
          <a:xfrm>
            <a:off x="5184648" y="4983480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Entregável da Fase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Catálogo inicial de requisitos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463040"/>
            <a:ext cx="11384280" cy="5029200"/>
          </a:xfrm>
          <a:prstGeom prst="roundRect">
            <a:avLst/>
          </a:prstGeom>
          <a:solidFill>
            <a:srgbClr val="F5F5F5"/>
          </a:solidFill>
          <a:ln w="15875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78308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Por funcionalidade: </a:t>
            </a:r>
            <a:r>
              <a:rPr sz="1800">
                <a:solidFill>
                  <a:srgbClr val="212121"/>
                </a:solidFill>
                <a:latin typeface="Open Sans"/>
              </a:rPr>
              <a:t>derive RFS (mecanismo) + RGS (garantia).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Base legal: </a:t>
            </a:r>
            <a:r>
              <a:rPr sz="1800">
                <a:solidFill>
                  <a:srgbClr val="212121"/>
                </a:solidFill>
                <a:latin typeface="Open Sans"/>
              </a:rPr>
              <a:t>amarre cada dado sensível a um artigo da LGPD.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Nível ASVS: </a:t>
            </a:r>
            <a:r>
              <a:rPr sz="1800">
                <a:solidFill>
                  <a:srgbClr val="212121"/>
                </a:solidFill>
                <a:latin typeface="Open Sans"/>
              </a:rPr>
              <a:t>defina o alvo (L2) e justifique pela classificação.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Quatro fontes: </a:t>
            </a:r>
            <a:r>
              <a:rPr sz="1800">
                <a:solidFill>
                  <a:srgbClr val="212121"/>
                </a:solidFill>
                <a:latin typeface="Open Sans"/>
              </a:rPr>
              <a:t>cruze negócio, lei, padrões e ameaças.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Regra de ouro: </a:t>
            </a:r>
            <a:r>
              <a:rPr sz="1800">
                <a:solidFill>
                  <a:srgbClr val="212121"/>
                </a:solidFill>
                <a:latin typeface="Open Sans"/>
              </a:rPr>
              <a:t>ativo + ameaça + atributo + critério verificável.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2232" y="548640"/>
            <a:ext cx="3909060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2194560"/>
            <a:ext cx="112471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800" b="1" i="0">
                <a:solidFill>
                  <a:srgbClr val="7CB342"/>
                </a:solidFill>
                <a:latin typeface="Open Sans"/>
              </a:rPr>
              <a:t>Perguntas?</a:t>
            </a:r>
          </a:p>
        </p:txBody>
      </p:sp>
      <p:sp>
        <p:nvSpPr>
          <p:cNvPr id="5" name="Rectangle 4"/>
          <p:cNvSpPr/>
          <p:nvPr/>
        </p:nvSpPr>
        <p:spPr>
          <a:xfrm>
            <a:off x="5184648" y="3977639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42976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FFFFFF"/>
                </a:solidFill>
                <a:latin typeface="Open Sans"/>
              </a:rPr>
              <a:t>Prof. Dr. Alex Mulattieri Suarez Orozco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80060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 i="1">
                <a:solidFill>
                  <a:srgbClr val="CCD7C0"/>
                </a:solidFill>
                <a:latin typeface="Open Sans"/>
              </a:rPr>
              <a:t>alexorozco@ifsul.edu.br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94360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CCD7C0"/>
                </a:solidFill>
                <a:latin typeface="Open Sans"/>
              </a:rPr>
              <a:t>IFSul · Câmpus Sapucaia do Sul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