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 2. Aprendemos a transformar 'quero segurança' em requisitos específicos e testáveis, e vemos a LGPD como fonte formal de requisitos. Entregável: catálogo inicial de requisitos do VidaPlus com base legal (Fase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engenharia de software separa requisitos funcionais (comportamento) de não-funcionais (qualidade). Segurança é frequentemente rotulada como 'RNF', o que leva a tratá-la como opcional. Na verdade ela é as duas coisas: há funções de segurança (autenticar, autorizar) e há segurança como propriedade que atravessa todas as funções. Um bom requisito de segurança nomeia o ativo, a ameaça e o critério de aceite.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Tratar segurança como 'RNF que dá para adiar' é a raiz da maioria dos incidentes. Reposicione: 'o sistema deve fazer X e SOMENTE X, mesmo sob ataque' é um requisito de negócio. Consequência prática: requisitos de segurança entram no backlog e na Definition of Done com o mesmo peso de qualquer requisito funcional (Shift Left).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Distinção central da disciplina: RFS (Requisito Funcional de Segurança) é o mecanismo que protege — responde 'o que o sistema faz para se proteger?'. RGS (Requisito de Garantia / assurance) é a prova de que o mecanismo funciona — responde 'quanta confiança temos?'. Equivalem ao par SFR × SAR do Common Criteria. Todo controle P0 deve ter um RGS associado (um teste no CI, cobertura DAST, nível ASVS verificado).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Requisitos não se 'inventam': garimpa-se em quatro fontes complementares. Negócio diz o que importa; a lei diz o que é obrigatório; os padrões dizem o que é esperado; as ameaças dizem contra o que defender. Fontes 1-2 geram requisitos de alto nível (políticas); fontes 3-4 ajudam a derivar requisitos técnicos testáveis.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ASVS (OWASP Application Security Verification Standard) é o exemplo concreto da fonte 'Padrões': em vez de inventar requisitos do zero, você parte de um catálogo pronto de requisitos verificáveis, agrupados em três níveis de rigor. L1 é o básico (verificável de fora); L2 é o padrão recomendado para aplicações com dados sensíveis e exige olhar o projeto e o código; L3 é o mais rigoroso, para sistemas críticos (saúde, finanças). Escolhe-se o nível-alvo pela classificação de dados da Fase 0 — e cada requisito ASVS já vem testável, casando com o RGS. No VidaPlus, os dados de saúde justificam mirar L2 como linha de base, subindo a L3 nos módulos mais sensíveis (prontuário, exames).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critério de qualidade é SMART. Compare: 'proteger senhas' não é verificável — como testar? Já 'Argon2id com m=19MiB e salt de 16 bytes, MD5 proibido' é verificável por teste (consulto o banco e confiro o formato do hash). Um requisito sem critério de aceite é apenas uma intenção; com critério, ele vira um portão de qualidade.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LGPD é a lei geral brasileira de proteção de dados. Não é 'só um tema jurídico': decisões técnicas (modelagem, arquitetura, logs, segurança) impactam diretamente a privacidade, e a maioria dos vazamentos tem origem técnica. Por isso a TI é parte essencial da conformidade. Ela se aplica sempre que há dado pessoal e o tratamento ocorre no Brasil ou oferece serviço a pessoas aqui — o VidaPlus se enquadra plenamente.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Estes quatro termos aparecem em todo requisito da disciplina. 'Praticamente toda ação em um sistema é tratamento de dados' — logar, consultar, exportar, apagar. A distinção que mais importa no VidaPlus é dado comum × dado sensível: dado de saúde (art. 11) exige atenção especial e base legal própria, o que puxa o nível de proteção para o mais alto (liga-se à classificação de dados da Fase 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LGPD define três papéis. O Controlador decide as finalidades e os meios (a clínica). O Operador executa o tratamento em nome dele (um provedor de nuvem, uma software house). O Encarregado (DPO — Data Protection Officer) é o canal de comunicação com titulares e com a ANPD. A TI não é um quarto agente, mas é quem torna tecnicamente possível cada dever — localizar dados, aplicar controles, gerar evidência.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art. 6 traz dez princípios. Na prática de TI: finalidade e necessidade viram revisão de formulários e do schema (não coletar campo sem uso — combate à sobrecoleta); livre acesso e qualidade viram telas e APIs para o titular; segurança e prevenção viram controles e testes; responsabilização vira logs, documentação e evidência. 'Minimização' é o princípio que mais gera requisito técnico no VidaPlus.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 legal é a fundamentação jurídica que autoriza tratar um dado; sem ela o tratamento é ilegal. Erro comum: 'usar consentimento para tudo'. No VidaPlus, o núcleo (tratar prontuário para atender o paciente) apoia-se em tutela da saúde (art. 11), não em consentimento; a retenção do prontuário é obrigação legal (CFM); já uma newsletter exigiria consentimento. Identificar a base correta de cada dado é entregável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LGPD é centrada no titular: o art. 18 lista os direitos e o sistema tem de viabilizá-los tecnicamente. Cada direito vira funcionalidade: acesso -&gt; painel/exportação; correção -&gt; campos editáveis com registro de alteração; eliminação -&gt; rotina que respeita a retenção legal (não se apaga um prontuário dentro do prazo do CFM — bloqueia-se/anonimiza). O prazo do art. 19 (15 dias) obriga a TI a localizar dados rapidamente.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Segurança é a base da LGPD (art. 46) e obriga medidas técnicas E administrativas. Quando ocorre um incidente com risco relevante, o art. 48 exige comunicar à ANPD e aos titulares — a ANPD regulamentou o prazo em 3 dias úteis. Sem logs não há como identificar a causa nem demonstrar diligência. A ANPD (Autoridade Nacional) fiscaliza e aplica sanções graduadas conforme gravidade, boa-fé e adoção de boas práticas de governança.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ECA Digital (Lei 15.211/2025, em vigor desde 17/03/2026) leva o Estatuto da Criança e do Adolescente ao mundo digital e conversa diretamente com a LGPD. A LGPD já dava tratamento especial aos dados de menores no art. 14: o tratamento deve atender ao 'melhor interesse' e, em regra, depende de consentimento específico e destacado de um dos pais ou responsável. Para o VidaPlus isso é concreto: o prontuário de um paciente pediátrico soma duas camadas de proteção — dado sensível de saúde E dado de criança —, e a própria tabela de sanções da ANPD classifica como GRAVE a infração que envolve dados de crianças e adolescentes.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ECA Digital transforma esses princípios em exigências técnicas — quase todas com raiz na LGPD. Verificação de idade confiável (não o 'clique aqui se tem 18'); privacidade por padrão nas contas de menores (o mesmo Privacy by Design da Aula 4, agora obrigatório por lei); minimização ainda mais estrita; e proibição de perfilamento e publicidade direcionada a crianças. Antes de liberar qualquer funcionalidade acessível a menores, exige-se um RIPD (o mesmo relatório de impacto do art. 38, feito na Aula 4). Descumprir expõe a multa de até R$ 50 milhões por infração e à suspensão da atividade.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Fechando: a LGPD é fonte formal de requisitos. Cada cláusula aplicável vira um requisito rastreável — 'art. 46 -&gt; cifrar dados em repouso com AES-256'. O VidaPlus trata dados de saúde (art. 11), que exigem regime reforçado; o art. 18 vira funcionalidades a construir (exportação, eliminação, consentimento); e o RIPD (art. 38) será feito na Aula 4. RIPD = Relatório de Impacto à Proteção de Dados Pessoais.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sim a coluna 'base legal' da tabela da Fase 0 é preenchida. Para cada funcionalidade do pacote do grupo, escreva RFS e RGS testáveis, aponte a base legal e defina o nível ASVS alvo (L2, por causa dos dados de saúde). O catálogo desta fase alimenta o threat modeling (Aula 3) e a especificação (Aula 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90906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3172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7CB342"/>
                </a:solidFill>
                <a:latin typeface="Open Sans"/>
              </a:rPr>
              <a:t>Aula 2 — Requisitos &amp; LGPD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D7A3D"/>
                </a:solidFill>
                <a:latin typeface="Open Sans"/>
              </a:rPr>
              <a:t>Da elicitação ao catálogo de requisitos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616161"/>
                </a:solidFill>
                <a:latin typeface="Open Sans"/>
              </a:rPr>
              <a:t>Security Requirements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4648" y="480060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616161"/>
                </a:solidFill>
                <a:latin typeface="Open Sans"/>
              </a:rPr>
              <a:t>TADS · Segurança em Sistemas Computacionais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Prof. Dr. Alex Mulattieri Suarez Orozco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Open Sans"/>
              </a:rPr>
              <a:t>Fundamentos de requisitos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O que são e por que existem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Requisito funcional × não-funcional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Onde a segurança se encaixa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Requisito funcional (RF): </a:t>
            </a:r>
            <a:r>
              <a:rPr sz="1800">
                <a:solidFill>
                  <a:srgbClr val="212121"/>
                </a:solidFill>
                <a:latin typeface="Open Sans"/>
              </a:rPr>
              <a:t>o QUE o sistema faz — ex.: 'recuperar a senha por e-mail'.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Não-funcional (RNF): </a:t>
            </a:r>
            <a:r>
              <a:rPr sz="1800">
                <a:solidFill>
                  <a:srgbClr val="212121"/>
                </a:solidFill>
                <a:latin typeface="Open Sans"/>
              </a:rPr>
              <a:t>COMO se comporta — desempenho, segurança, disponibilidade.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Segurança aparece nos dois: </a:t>
            </a:r>
            <a:r>
              <a:rPr sz="1800">
                <a:solidFill>
                  <a:srgbClr val="212121"/>
                </a:solidFill>
                <a:latin typeface="Open Sans"/>
              </a:rPr>
              <a:t>como função (login, cripto, auditoria) e como atributo transversal.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Requisito de segurança = </a:t>
            </a:r>
            <a:r>
              <a:rPr sz="1800">
                <a:solidFill>
                  <a:srgbClr val="212121"/>
                </a:solidFill>
                <a:latin typeface="Open Sans"/>
              </a:rPr>
              <a:t>exigência explícita de proteger um ativo contra uma ameaça, com critério verificável.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O mito do 'RNF opcional'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Segurança é requisito de negócio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5486400" cy="640080"/>
          </a:xfrm>
          <a:prstGeom prst="roundRect">
            <a:avLst/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642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Visão equivocada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240280"/>
            <a:ext cx="5486400" cy="4160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'É RNF, dá para deixar depois.'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'Pentest no fim resolve.'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Funcionalidade primeiro, segurança se sobrar.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User stories só do uso legítimo.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486400" cy="640080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642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A realidade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240280"/>
            <a:ext cx="5486400" cy="4160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Vazamento = prejuízo financeiro e legal.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Falha de segurança quebra o negócio.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Conformidade (LGPD) é obrigação legal.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Confiança do usuário é o produto.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RFS × RGS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O que o sistema faz para se proteger × quanta confiança temos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D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D7A3D"/>
                </a:solidFill>
                <a:latin typeface="Open Sans"/>
              </a:rPr>
              <a:t>RFS — mecanismo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o controle em si: MFA, RBAC, cripto, auditoria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976D2"/>
                </a:solidFill>
                <a:latin typeface="Open Sans"/>
              </a:rPr>
              <a:t>RGS — garantia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a evidência: teste, cobertura, nível ASVS, atestação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E65100"/>
                </a:solidFill>
                <a:latin typeface="Open Sans"/>
              </a:rPr>
              <a:t>Analogia (RFS)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'a porta deve ter fechadura'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7CB342"/>
                </a:solidFill>
                <a:latin typeface="Open Sans"/>
              </a:rPr>
              <a:t>Analogia (RGS)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'a fechadura deve ser testada e certificada'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As 4 fontes dos 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Onde 'garimpar' o que proteger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D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D7A3D"/>
                </a:solidFill>
                <a:latin typeface="Open Sans"/>
              </a:rPr>
              <a:t>Negócio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ativos críticos, apetite a risco, SLAs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B71C1C"/>
                </a:solidFill>
                <a:latin typeface="Open Sans"/>
              </a:rPr>
              <a:t>Legal/Regulatório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LGPD, PCI-DSS, HIPAA — não-negociáveis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976D2"/>
                </a:solidFill>
                <a:latin typeface="Open Sans"/>
              </a:rPr>
              <a:t>Padrões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OWASP ASVS/Top 10, NIST, CIS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E65100"/>
                </a:solidFill>
                <a:latin typeface="Open Sans"/>
              </a:rPr>
              <a:t>Ameaças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threat modeling, abuse cases, incidentes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OWASP ASVS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Um padrão que já entrega requisitos verificáveis, por nível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ASVS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70992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o que 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2821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catálogo OWASP de requisitos de segurança testáveis, por nível de rigor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13432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404872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L1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5146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básico / oportunista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controles essenciais; verificável de fora (black-box)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118103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209544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1927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L2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31927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padrão — dados sensíveis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37559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recomendado para a maioria; exige revisão de projeto e código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922775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014215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23943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123943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avançado — apps críticas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42231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saúde, finanças, risco à vida — o mais rigoroso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727448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818888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928616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Uso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92861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nível-alvo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94690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escolha pela classificação de dados; cada item vira um RGS testável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532119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5623559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733287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VidaPlus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5733287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alvo L2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751575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dados de saúde justificam L2 (L3 nos módulos mais críticos)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Como escrever um bom requisito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Critérios de qualidade: SMART e testável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Específico: </a:t>
            </a:r>
            <a:r>
              <a:rPr sz="1800">
                <a:solidFill>
                  <a:srgbClr val="212121"/>
                </a:solidFill>
                <a:latin typeface="Open Sans"/>
              </a:rPr>
              <a:t>sem ambiguidade — evite 'ser seguro' ou 'proteger as senhas'.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Mensurável/testável: </a:t>
            </a:r>
            <a:r>
              <a:rPr sz="1800">
                <a:solidFill>
                  <a:srgbClr val="212121"/>
                </a:solidFill>
                <a:latin typeface="Open Sans"/>
              </a:rPr>
              <a:t>dá para verificar com um teste.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Rastreável: </a:t>
            </a:r>
            <a:r>
              <a:rPr sz="1800">
                <a:solidFill>
                  <a:srgbClr val="212121"/>
                </a:solidFill>
                <a:latin typeface="Open Sans"/>
              </a:rPr>
              <a:t>ligado a um ativo, a uma ameaça e a uma fonte.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Ruim: </a:t>
            </a:r>
            <a:r>
              <a:rPr sz="1800">
                <a:solidFill>
                  <a:srgbClr val="212121"/>
                </a:solidFill>
                <a:latin typeface="Open Sans"/>
              </a:rPr>
              <a:t>'O sistema deve proteger as senhas.'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Bom: </a:t>
            </a:r>
            <a:r>
              <a:rPr sz="1800">
                <a:solidFill>
                  <a:srgbClr val="212121"/>
                </a:solidFill>
                <a:latin typeface="Open Sans"/>
              </a:rPr>
              <a:t>'Senhas com Argon2id (m=19MiB), salt de 16 bytes; MD5/SHA-1 proibidos.'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LGPD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A regulação que vira fonte formal de requisitos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O que é a LGPD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Lei 13.709/2018 — em vigor desde 2020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O quê: </a:t>
            </a:r>
            <a:r>
              <a:rPr sz="1800">
                <a:solidFill>
                  <a:srgbClr val="212121"/>
                </a:solidFill>
                <a:latin typeface="Open Sans"/>
              </a:rPr>
              <a:t>lei geral que disciplina o tratamento de dados pessoais no Brasil.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A quem se aplica: </a:t>
            </a:r>
            <a:r>
              <a:rPr sz="1800">
                <a:solidFill>
                  <a:srgbClr val="212121"/>
                </a:solidFill>
                <a:latin typeface="Open Sans"/>
              </a:rPr>
              <a:t>toda organização, pública ou privada, que trate dados de pessoas no Brasil — independe do porte.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Objetivo: </a:t>
            </a:r>
            <a:r>
              <a:rPr sz="1800">
                <a:solidFill>
                  <a:srgbClr val="212121"/>
                </a:solidFill>
                <a:latin typeface="Open Sans"/>
              </a:rPr>
              <a:t>proteger os direitos fundamentais de liberdade, privacidade e livre desenvolvimento da pessoa.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Origem: </a:t>
            </a:r>
            <a:r>
              <a:rPr sz="1800">
                <a:solidFill>
                  <a:srgbClr val="212121"/>
                </a:solidFill>
                <a:latin typeface="Open Sans"/>
              </a:rPr>
              <a:t>inspirada no GDPR europeu; sucede o Marco Civil da Internet (Lei 12.965/2014).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No centro: </a:t>
            </a:r>
            <a:r>
              <a:rPr sz="1800">
                <a:solidFill>
                  <a:srgbClr val="212121"/>
                </a:solidFill>
                <a:latin typeface="Open Sans"/>
              </a:rPr>
              <a:t>o titular — a pessoa a quem os dados se referem.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Conceitos fundamentais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O vocabulário que todo requisito usa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Dado pessoal: </a:t>
            </a:r>
            <a:r>
              <a:rPr sz="1800">
                <a:solidFill>
                  <a:srgbClr val="212121"/>
                </a:solidFill>
                <a:latin typeface="Open Sans"/>
              </a:rPr>
              <a:t>informação que identifica ou torna identificável uma pessoa (nome, CPF, e-mail, IP).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Dado sensível (art. 11): </a:t>
            </a:r>
            <a:r>
              <a:rPr sz="1800">
                <a:solidFill>
                  <a:srgbClr val="212121"/>
                </a:solidFill>
                <a:latin typeface="Open Sans"/>
              </a:rPr>
              <a:t>saúde, biometria, origem racial, religião, opinião política — regime reforçado.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Tratamento: </a:t>
            </a:r>
            <a:r>
              <a:rPr sz="1800">
                <a:solidFill>
                  <a:srgbClr val="212121"/>
                </a:solidFill>
                <a:latin typeface="Open Sans"/>
              </a:rPr>
              <a:t>qualquer operação com o dado — coleta, uso, acesso, compartilhamento, eliminação.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Titular: </a:t>
            </a:r>
            <a:r>
              <a:rPr sz="1800">
                <a:solidFill>
                  <a:srgbClr val="212121"/>
                </a:solidFill>
                <a:latin typeface="Open Sans"/>
              </a:rPr>
              <a:t>a pessoa a quem o dado se refere (paciente, médico, funcionário).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No VidaPlus: </a:t>
            </a:r>
            <a:r>
              <a:rPr sz="1800">
                <a:solidFill>
                  <a:srgbClr val="212121"/>
                </a:solidFill>
                <a:latin typeface="Open Sans"/>
              </a:rPr>
              <a:t>prontuário e exame são dados de saúde -&gt; sensíveis -&gt; o ativo mais crítico.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Agentes de tratamento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Quem responde por quê — e o reflexo na 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D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D7A3D"/>
                </a:solidFill>
                <a:latin typeface="Open Sans"/>
              </a:rPr>
              <a:t>Controlador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decide como e por que tratar — a clínica VidaPlus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976D2"/>
                </a:solidFill>
                <a:latin typeface="Open Sans"/>
              </a:rPr>
              <a:t>Operador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trata em nome do controlador — cloud, TI terceirizada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E65100"/>
                </a:solidFill>
                <a:latin typeface="Open Sans"/>
              </a:rPr>
              <a:t>Encarregado / DPO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canal entre clínica, titulares e ANPD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7CB342"/>
                </a:solidFill>
                <a:latin typeface="Open Sans"/>
              </a:rPr>
              <a:t>Papel da 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viabiliza tecnicamente os deveres dos três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Princípios (art. 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Dez regras que orientam todo tratamento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Finalidade, adequação, necessidade: </a:t>
            </a:r>
            <a:r>
              <a:rPr sz="1800">
                <a:solidFill>
                  <a:srgbClr val="212121"/>
                </a:solidFill>
                <a:latin typeface="Open Sans"/>
              </a:rPr>
              <a:t>propósito legítimo e explícito; coletar só o mínimo (minimização).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Livre acesso e qualidade: </a:t>
            </a:r>
            <a:r>
              <a:rPr sz="1800">
                <a:solidFill>
                  <a:srgbClr val="212121"/>
                </a:solidFill>
                <a:latin typeface="Open Sans"/>
              </a:rPr>
              <a:t>o titular consulta seus dados; eles devem ser exatos e atualizados.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Transparência: </a:t>
            </a:r>
            <a:r>
              <a:rPr sz="1800">
                <a:solidFill>
                  <a:srgbClr val="212121"/>
                </a:solidFill>
                <a:latin typeface="Open Sans"/>
              </a:rPr>
              <a:t>informação clara sobre como e por que os dados são usados.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Segurança e prevenção: </a:t>
            </a:r>
            <a:r>
              <a:rPr sz="1800">
                <a:solidFill>
                  <a:srgbClr val="212121"/>
                </a:solidFill>
                <a:latin typeface="Open Sans"/>
              </a:rPr>
              <a:t>medidas técnicas e administrativas para evitar incidentes.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Não discriminação: </a:t>
            </a:r>
            <a:r>
              <a:rPr sz="1800">
                <a:solidFill>
                  <a:srgbClr val="212121"/>
                </a:solidFill>
                <a:latin typeface="Open Sans"/>
              </a:rPr>
              <a:t>proibido tratar para fins discriminatórios ilícitos ou abusivos.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Responsabilização (accountability): </a:t>
            </a:r>
            <a:r>
              <a:rPr sz="1800">
                <a:solidFill>
                  <a:srgbClr val="212121"/>
                </a:solidFill>
                <a:latin typeface="Open Sans"/>
              </a:rPr>
              <a:t>demonstrar e comprovar a conformidade com evidência.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Bases legais (art. 7 e 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Todo tratamento precisa de uma — sem ela, é irregular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Consentimento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70992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livre e informado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2821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específico, destacado, revogável — checkbox nunca pré-marcado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13432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404872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Obrigação legal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5146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exigida por lei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retenção: prontuário ~20 anos (CFM); log 6 meses (Marco Civil)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118103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209544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1927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Contrato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31927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execução de contrato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37559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só os dados necessários ao atendimento contratado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922775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014215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23943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Leg. interesse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123943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fim legítimo do controlador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42231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exige avaliação de impacto e respeito ao titular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727448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818888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928616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Tutela da saúde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92861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dado sensível (art. 11)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94690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base típica da clínica: atendimento por profissional de saúde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532119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5623559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733287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Sem 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5733287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-&gt; irregular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751575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tratamento ilegal e sujeito a sanção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Direitos do titular (art. 18 e 19)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O que o sistema precisa permitir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Confirmação e acesso: </a:t>
            </a:r>
            <a:r>
              <a:rPr sz="1800">
                <a:solidFill>
                  <a:srgbClr val="212121"/>
                </a:solidFill>
                <a:latin typeface="Open Sans"/>
              </a:rPr>
              <a:t>saber se há tratamento e obter cópia dos próprios dados.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Correção: </a:t>
            </a:r>
            <a:r>
              <a:rPr sz="1800">
                <a:solidFill>
                  <a:srgbClr val="212121"/>
                </a:solidFill>
                <a:latin typeface="Open Sans"/>
              </a:rPr>
              <a:t>atualizar dados incompletos ou incorretos.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Eliminação / anonimização: </a:t>
            </a:r>
            <a:r>
              <a:rPr sz="1800">
                <a:solidFill>
                  <a:srgbClr val="212121"/>
                </a:solidFill>
                <a:latin typeface="Open Sans"/>
              </a:rPr>
              <a:t>avaliar obrigação legal antes de apagar (exclusão lógica × física).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Portabilidade: </a:t>
            </a:r>
            <a:r>
              <a:rPr sz="1800">
                <a:solidFill>
                  <a:srgbClr val="212121"/>
                </a:solidFill>
                <a:latin typeface="Open Sans"/>
              </a:rPr>
              <a:t>exportar em formato estruturado (CSV, JSON).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Revogação e compartilhamento: </a:t>
            </a:r>
            <a:r>
              <a:rPr sz="1800">
                <a:solidFill>
                  <a:srgbClr val="212121"/>
                </a:solidFill>
                <a:latin typeface="Open Sans"/>
              </a:rPr>
              <a:t>retirar o consentimento; saber com quem os dados foram compartilhados.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Prazos (art. 19): </a:t>
            </a:r>
            <a:r>
              <a:rPr sz="1800">
                <a:solidFill>
                  <a:srgbClr val="212121"/>
                </a:solidFill>
                <a:latin typeface="Open Sans"/>
              </a:rPr>
              <a:t>resposta simplificada imediata; declaração completa em até 15 dias.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Segurança e incidentes (art. 46 e 48)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Do controle técnico à resposta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Art. 46 — segurança: </a:t>
            </a:r>
            <a:r>
              <a:rPr sz="1800">
                <a:solidFill>
                  <a:srgbClr val="212121"/>
                </a:solidFill>
                <a:latin typeface="Open Sans"/>
              </a:rPr>
              <a:t>medidas técnicas e administrativas: cripto, controle de acesso, auditoria.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Incidente: </a:t>
            </a:r>
            <a:r>
              <a:rPr sz="1800">
                <a:solidFill>
                  <a:srgbClr val="212121"/>
                </a:solidFill>
                <a:latin typeface="Open Sans"/>
              </a:rPr>
              <a:t>acesso não autorizado, vazamento, perda ou alteração indevida de dados.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Incidente × vazamento: </a:t>
            </a:r>
            <a:r>
              <a:rPr sz="1800">
                <a:solidFill>
                  <a:srgbClr val="212121"/>
                </a:solidFill>
                <a:latin typeface="Open Sans"/>
              </a:rPr>
              <a:t>todo vazamento é incidente; nem todo incidente vira vazamento.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Art. 48 — comunicação: </a:t>
            </a:r>
            <a:r>
              <a:rPr sz="1800">
                <a:solidFill>
                  <a:srgbClr val="212121"/>
                </a:solidFill>
                <a:latin typeface="Open Sans"/>
              </a:rPr>
              <a:t>risco relevante -&gt; comunicar à ANPD e ao titular (prazo ANPD: 3 dias úteis).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Papel da TI: </a:t>
            </a:r>
            <a:r>
              <a:rPr sz="1800">
                <a:solidFill>
                  <a:srgbClr val="212121"/>
                </a:solidFill>
                <a:latin typeface="Open Sans"/>
              </a:rPr>
              <a:t>detectar, conter, preservar evidências (logs) e corrigir a vulnerabilidade.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Não conformidade: </a:t>
            </a:r>
            <a:r>
              <a:rPr sz="1800">
                <a:solidFill>
                  <a:srgbClr val="212121"/>
                </a:solidFill>
                <a:latin typeface="Open Sans"/>
              </a:rPr>
              <a:t>advertência, multa, bloqueio, suspensão — risco técnico vira risco legal.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ECA Digital × LGPD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Lei 15.211/2025 — em vigor desde março/2026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O que é: </a:t>
            </a:r>
            <a:r>
              <a:rPr sz="1800">
                <a:solidFill>
                  <a:srgbClr val="212121"/>
                </a:solidFill>
                <a:latin typeface="Open Sans"/>
              </a:rPr>
              <a:t>estende o ECA ao ambiente digital; protege crianças (até 12) e adolescentes online.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Cruza com a LGPD: </a:t>
            </a:r>
            <a:r>
              <a:rPr sz="1800">
                <a:solidFill>
                  <a:srgbClr val="212121"/>
                </a:solidFill>
                <a:latin typeface="Open Sans"/>
              </a:rPr>
              <a:t>dado de criança/adolescente já tem regime especial no art. 14 da LGPD.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Princípio-guia: </a:t>
            </a:r>
            <a:r>
              <a:rPr sz="1800">
                <a:solidFill>
                  <a:srgbClr val="212121"/>
                </a:solidFill>
                <a:latin typeface="Open Sans"/>
              </a:rPr>
              <a:t>melhor interesse da criança e do adolescente — acima do interesse comercial.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Dado de menor: </a:t>
            </a:r>
            <a:r>
              <a:rPr sz="1800">
                <a:solidFill>
                  <a:srgbClr val="212121"/>
                </a:solidFill>
                <a:latin typeface="Open Sans"/>
              </a:rPr>
              <a:t>no VidaPlus, paciente pediátrico = saúde + criança -&gt; proteção dupla.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Base legal: </a:t>
            </a:r>
            <a:r>
              <a:rPr sz="1800">
                <a:solidFill>
                  <a:srgbClr val="212121"/>
                </a:solidFill>
                <a:latin typeface="Open Sans"/>
              </a:rPr>
              <a:t>exige consentimento específico e destacado de um dos pais/responsável (art. 14, §1).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Sanção agravada: </a:t>
            </a:r>
            <a:r>
              <a:rPr sz="1800">
                <a:solidFill>
                  <a:srgbClr val="212121"/>
                </a:solidFill>
                <a:latin typeface="Open Sans"/>
              </a:rPr>
              <a:t>infração com dado de criança/adolescente é grave; multa até R$ 50 milhões.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ECA Digital: exigências técnicas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O que o sistema precisa fazer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Verificação de idade: </a:t>
            </a:r>
            <a:r>
              <a:rPr sz="1800">
                <a:solidFill>
                  <a:srgbClr val="212121"/>
                </a:solidFill>
                <a:latin typeface="Open Sans"/>
              </a:rPr>
              <a:t>mecanismo confiável e proporcional — não basta 'declaro ter 18'.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Privacidade por padrão: </a:t>
            </a:r>
            <a:r>
              <a:rPr sz="1800">
                <a:solidFill>
                  <a:srgbClr val="212121"/>
                </a:solidFill>
                <a:latin typeface="Open Sans"/>
              </a:rPr>
              <a:t>conta de menor já vem na configuração mais restritiva (reforça o Privacy by Design — Aula 4).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Minimização reforçada: </a:t>
            </a:r>
            <a:r>
              <a:rPr sz="1800">
                <a:solidFill>
                  <a:srgbClr val="212121"/>
                </a:solidFill>
                <a:latin typeface="Open Sans"/>
              </a:rPr>
              <a:t>não condicionar o uso à coleta de dados excessivos (art. 14, §3).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Vedação a perfilamento: </a:t>
            </a:r>
            <a:r>
              <a:rPr sz="1800">
                <a:solidFill>
                  <a:srgbClr val="212121"/>
                </a:solidFill>
                <a:latin typeface="Open Sans"/>
              </a:rPr>
              <a:t>proibido criar perfil comportamental e publicidade direcionada a menores.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RIPD obrigatório: </a:t>
            </a:r>
            <a:r>
              <a:rPr sz="1800">
                <a:solidFill>
                  <a:srgbClr val="212121"/>
                </a:solidFill>
                <a:latin typeface="Open Sans"/>
              </a:rPr>
              <a:t>avaliação de impacto antes de liberar função acessível a menores (art. 38).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Transparência acessível: </a:t>
            </a:r>
            <a:r>
              <a:rPr sz="1800">
                <a:solidFill>
                  <a:srgbClr val="212121"/>
                </a:solidFill>
                <a:latin typeface="Open Sans"/>
              </a:rPr>
              <a:t>informação em linguagem clara e adequada à idade (art. 14, §6).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LGPD no VidaPlus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Artigos que mais impactam o projeto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Art.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70992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Princípios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2821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finalidade, minimização, segurança, accountability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13432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404872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Art. 7/11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5146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Bases legais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dados de saúde = sensíveis -&gt; regime reforçado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118103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209544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1927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Art.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31927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Direitos do titular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37559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acesso, portabilidade, eliminação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922775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014215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23943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Art. 8/9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123943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Consentimento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42231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específico, versionado, revogável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727448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818888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928616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Art. 46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92861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Segurança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94690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cripto, controle de acesso, auditoria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532119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5623559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733287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Art. 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5733287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RIPD/DPIA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751575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relatório de impacto em tratamento de alto risco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No VidaPlus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A etapa desta semana (Fase 1)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Entregável da Fase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Catálogo de requisitos por funcionalidade (dossiê §2)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Entregar: </a:t>
            </a:r>
            <a:r>
              <a:rPr sz="1800">
                <a:solidFill>
                  <a:srgbClr val="212121"/>
                </a:solidFill>
                <a:latin typeface="Open Sans"/>
              </a:rPr>
              <a:t>por funcionalidade do pacote, um RFS (mecanismo) + um RGS (garantia) testáveis.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Base legal: </a:t>
            </a:r>
            <a:r>
              <a:rPr sz="1800">
                <a:solidFill>
                  <a:srgbClr val="212121"/>
                </a:solidFill>
                <a:latin typeface="Open Sans"/>
              </a:rPr>
              <a:t>amarre cada dado sensível a um artigo da LGPD.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Nível ASVS: </a:t>
            </a:r>
            <a:r>
              <a:rPr sz="1800">
                <a:solidFill>
                  <a:srgbClr val="212121"/>
                </a:solidFill>
                <a:latin typeface="Open Sans"/>
              </a:rPr>
              <a:t>defina o alvo (L2) e justifique pela classificação da Fase 0.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Formato de cada requisito: </a:t>
            </a:r>
            <a:r>
              <a:rPr sz="1800">
                <a:solidFill>
                  <a:srgbClr val="212121"/>
                </a:solidFill>
                <a:latin typeface="Open Sans"/>
              </a:rPr>
              <a:t>ativo + ameaça + atributo + critério verificável + rastreabilidade.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Pronto quando: </a:t>
            </a:r>
            <a:r>
              <a:rPr sz="1800">
                <a:solidFill>
                  <a:srgbClr val="212121"/>
                </a:solidFill>
                <a:latin typeface="Open Sans"/>
              </a:rPr>
              <a:t>toda funcionalidade do pacote tem RFS + RGS e base legal.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548640"/>
            <a:ext cx="390906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800" b="1" i="0">
                <a:solidFill>
                  <a:srgbClr val="7CB342"/>
                </a:solidFill>
                <a:latin typeface="Open Sans"/>
              </a:rPr>
              <a:t>Perguntas?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3977639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Prof. Dr. Alex Mulattieri Suarez Orozco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CCD7C0"/>
                </a:solidFill>
                <a:latin typeface="Open Sans"/>
              </a:rPr>
              <a:t>alexorozco@ifsul.edu.br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CD7C0"/>
                </a:solidFill>
                <a:latin typeface="Open Sans"/>
              </a:rPr>
              <a:t>IFSul · Câmpus Sapucaia do Sul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