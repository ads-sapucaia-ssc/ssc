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2. Aprendemos a transformar 'quero segurança' em requisitos específicos e testáveis, e vemos a LGPD como fonte formal de requisitos. Entregável: catálogo inicial de requisitos do VidaPlus com base legal (Fase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engenharia de software separa requisitos funcionais (comportamento) de não-funcionais (qualidade). Segurança é frequentemente rotulada como 'RNF', o que leva a tratá-la como opcional. Na verdade ela é as duas coisas: há funções de segurança (autenticar, autorizar) e há segurança como propriedade que atravessa todas as funções. Um bom requisito de segurança nomeia o ativo, a ameaça e o critério de aceite.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Tratar segurança como 'RNF que dá para adiar' é a raiz da maioria dos incidentes. Reposicione: 'o sistema deve fazer X e SOMENTE X, mesmo sob ataque' é um requisito de negócio. Consequência prática: requisitos de segurança entram no backlog e na Definition of Done com o mesmo peso de qualquer requisito funcional (Shift Left).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Distinção central da disciplina: RFS (Requisito Funcional de Segurança) é o mecanismo que protege — responde 'o que o sistema faz para se proteger?'. RGS (Requisito de Garantia / assurance) é a prova de que o mecanismo funciona — responde 'quanta confiança temos?'. Equivalem ao par SFR × SAR do Common Criteria. Todo controle P0 deve ter um RGS associado (um teste no CI, cobertura DAST, nível ASVS verificado).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Requisitos não se 'inventam': garimpa-se em quatro fontes complementares. Negócio diz o que importa; a lei diz o que é obrigatório; os padrões dizem o que é esperado; as ameaças dizem contra o que defender. Fontes 1-2 geram requisitos de alto nível (políticas); fontes 3-4 ajudam a derivar requisitos técnicos testáveis.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LGPD (Lei 13.709/2018) é fonte formal de requisitos. Cada cláusula aplicável vira um requisito rastreável: 'art. 46 -&gt; cifrar dados em repouso com AES-256'. O VidaPlus trata dados de saúde (art. 11), que exigem regime reforçado. O art. 18 (direitos do titular) vira funcionalidades a construir: exportação, eliminação, consentimento.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critério de qualidade é SMART. Compare: 'proteger senhas' não é verificável — como testar? Já 'Argon2id com m=19MiB e salt de 16 bytes, MD5 proibido' é verificável por teste (consulto o banco e confiro o formato do hash). Um requisito sem critério de aceite é apenas uma intenção; com critério, ele vira um portão de qualidade.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Agora sim a coluna 'base legal' da tabela da Fase 0 é preenchida. Para cada funcionalidade do pacote do grupo, escreva RFS e RGS testáveis, aponte a base legal e defina o nível ASVS alvo (L2, por causa dos dados de saúde). O catálogo desta fase alimenta o threat modeling (Aula 3) e a especificação (Aula 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7CB342"/>
                </a:solidFill>
                <a:latin typeface="Open Sans"/>
              </a:rPr>
              <a:t>Aula 2 — Requisitos &amp; LGPD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Da elicitação ao catálogo de requisitos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Security Requirements Engineering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em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Open Sans"/>
              </a:rPr>
              <a:t>Fundamentos de requisitos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O que são e por que existem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Requisito funcional × não-funcional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Onde a segurança se encaixa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Requisito funcional (RF): </a:t>
            </a:r>
            <a:r>
              <a:rPr sz="1800">
                <a:solidFill>
                  <a:srgbClr val="212121"/>
                </a:solidFill>
                <a:latin typeface="Open Sans"/>
              </a:rPr>
              <a:t>o QUE o sistema faz — ex.: 'recuperar a senha por e-mail'.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Não-funcional (RNF): </a:t>
            </a:r>
            <a:r>
              <a:rPr sz="1800">
                <a:solidFill>
                  <a:srgbClr val="212121"/>
                </a:solidFill>
                <a:latin typeface="Open Sans"/>
              </a:rPr>
              <a:t>COMO se comporta — desempenho, segurança, disponibilidade.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Segurança aparece nos dois: </a:t>
            </a:r>
            <a:r>
              <a:rPr sz="1800">
                <a:solidFill>
                  <a:srgbClr val="212121"/>
                </a:solidFill>
                <a:latin typeface="Open Sans"/>
              </a:rPr>
              <a:t>como função (login, cripto, auditoria) e como atributo transversal.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Requisito de segurança = </a:t>
            </a:r>
            <a:r>
              <a:rPr sz="1800">
                <a:solidFill>
                  <a:srgbClr val="212121"/>
                </a:solidFill>
                <a:latin typeface="Open Sans"/>
              </a:rPr>
              <a:t>exigência explícita de proteger um ativo contra uma ameaça, com critério verificável.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O mito do 'RNF opcional'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Segurança é requisito de negócio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54480"/>
            <a:ext cx="5486400" cy="640080"/>
          </a:xfrm>
          <a:prstGeom prst="roundRect">
            <a:avLst/>
          </a:prstGeom>
          <a:solidFill>
            <a:srgbClr val="424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Visão equivocada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'É RNF, dá para deixar depois.'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'Pentest no fim resolve.'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Funcionalidade primeiro, segurança se sobrar.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User stories só do uso legítimo.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486400" cy="640080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A realidade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Vazamento = prejuízo financeiro e legal.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Falha de segurança quebra o negócio.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Conformidade (LGPD) é obrigação legal.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Confiança do usuário é o produto.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RFS × RGS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que o sistema faz para se proteger × quanta confiança temos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RFS — mecanismo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o controle em si: MFA, RBAC, cripto, auditoria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RGS — garantia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 evidência: teste, cobertura, nível ASVS, atestação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Analogia (RFS)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'a porta deve ter fechadura'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Analogia (RGS)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'a fechadura deve ser testada e certificada'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As 4 fontes dos requisitos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Onde 'garimpar' o que proteger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Negócio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ativos críticos, apetite a risco, SLAs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B71C1C"/>
                </a:solidFill>
                <a:latin typeface="Open Sans"/>
              </a:rPr>
              <a:t>Legal/Regulatório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LGPD, PCI-DSS, HIPAA — não-negociáveis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Padrões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OWASP ASVS/Top 10, NIST, CIS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Ameaças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threat modeling, abuse cases, incidentes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LGPD como fonte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Cada regulação vira exigência concreta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LGPD no VidaPlus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Artigos que mais impactam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Art.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Princípios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finalidade, minimização, segurança, accountability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Art. 7/11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Bases legais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dados de saúde = sensíveis -&gt; regime reforçado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Art. 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Direitos do titular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acesso, portabilidade, eliminação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Art. 8/9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Consentimento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específico, versionado, revogável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Art. 46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Segurança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cripto, controle de acesso, auditoria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5532119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5623559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733287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Art. 38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80" y="5733287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RIPD/DPIA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5751575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relatório de impacto em tratamento de alto risco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Como escrever um bom requisito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Critérios de qualidade: SMART e testável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Específico: </a:t>
            </a:r>
            <a:r>
              <a:rPr sz="1800">
                <a:solidFill>
                  <a:srgbClr val="212121"/>
                </a:solidFill>
                <a:latin typeface="Open Sans"/>
              </a:rPr>
              <a:t>sem ambiguidade — evite 'ser seguro' ou 'proteger as senhas'.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Mensurável/testável: </a:t>
            </a:r>
            <a:r>
              <a:rPr sz="1800">
                <a:solidFill>
                  <a:srgbClr val="212121"/>
                </a:solidFill>
                <a:latin typeface="Open Sans"/>
              </a:rPr>
              <a:t>dá para verificar com um teste.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Rastreável: </a:t>
            </a:r>
            <a:r>
              <a:rPr sz="1800">
                <a:solidFill>
                  <a:srgbClr val="212121"/>
                </a:solidFill>
                <a:latin typeface="Open Sans"/>
              </a:rPr>
              <a:t>ligado a um ativo, a uma ameaça e a uma fonte.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Ruim: </a:t>
            </a:r>
            <a:r>
              <a:rPr sz="1800">
                <a:solidFill>
                  <a:srgbClr val="212121"/>
                </a:solidFill>
                <a:latin typeface="Open Sans"/>
              </a:rPr>
              <a:t>'O sistema deve proteger as senhas.'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Bom: </a:t>
            </a:r>
            <a:r>
              <a:rPr sz="1800">
                <a:solidFill>
                  <a:srgbClr val="212121"/>
                </a:solidFill>
                <a:latin typeface="Open Sans"/>
              </a:rPr>
              <a:t>'Senhas com Argon2id (m=19MiB), salt de 16 bytes; MD5/SHA-1 proibidos.'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Catálogo inicial de requisitos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Por funcionalidade: </a:t>
            </a:r>
            <a:r>
              <a:rPr sz="1800">
                <a:solidFill>
                  <a:srgbClr val="212121"/>
                </a:solidFill>
                <a:latin typeface="Open Sans"/>
              </a:rPr>
              <a:t>derive o RFS (mecanismo) + o RGS (garantia).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Base legal: </a:t>
            </a:r>
            <a:r>
              <a:rPr sz="1800">
                <a:solidFill>
                  <a:srgbClr val="212121"/>
                </a:solidFill>
                <a:latin typeface="Open Sans"/>
              </a:rPr>
              <a:t>amarre cada dado sensível a um artigo da LGPD.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Nível ASVS: </a:t>
            </a:r>
            <a:r>
              <a:rPr sz="1800">
                <a:solidFill>
                  <a:srgbClr val="212121"/>
                </a:solidFill>
                <a:latin typeface="Open Sans"/>
              </a:rPr>
              <a:t>defina o alvo (L2) e justifique pela classificação de dados.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Quatro fontes: </a:t>
            </a:r>
            <a:r>
              <a:rPr sz="1800">
                <a:solidFill>
                  <a:srgbClr val="212121"/>
                </a:solidFill>
                <a:latin typeface="Open Sans"/>
              </a:rPr>
              <a:t>cruze negócio, lei, padrões e ameaças.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Regra de ouro: </a:t>
            </a:r>
            <a:r>
              <a:rPr sz="1800">
                <a:solidFill>
                  <a:srgbClr val="212121"/>
                </a:solidFill>
                <a:latin typeface="Open Sans"/>
              </a:rPr>
              <a:t>ativo + ameaça + atributo + critério verificável + rastreabilidade.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