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CB342"/>
                </a:solidFill>
                <a:latin typeface="Open Sans"/>
              </a:rPr>
              <a:t>Aula 5 — Projeto Seguro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Princípios, priorização por risco e DoD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Secure Design · Risk Prioritization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Princípios de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base atemporal de todo controle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Saltzer &amp; Schroeder (1975)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6 dos 8 princípios atemporais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Fail-safe defaults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padrão = negar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Complete mediation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verificar toda requisição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Least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o mínimo necessário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Economy of mechanism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simples = menos bugs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Open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não depende de obscuridade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Separation of privilege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duas chaves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Fail Secure × Fail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Para qual estado o sistema vai ao falhar?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Fail Secure — 'negar'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Autenticação.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Transação financeira.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Controle de acesso a dados.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Firewall default-deny.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Fail Safe — 'preservar'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Sistema de incêndio (porta abre).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Equipamento médico.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Semáforo (amarelo piscante).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Elevador desce ao térreo.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Priorização por risco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Risco = probabilidade × impacto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Métodos de priorização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Traduzir risco em P0/P1/P2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pontua vulnerabilidade 0–10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DREAD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Damage, Reproducibility, Exploitability...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EPSS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probabilidade de exploração em 30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71C1C"/>
                </a:solidFill>
                <a:latin typeface="Open Sans"/>
              </a:rPr>
              <a:t>KEV (CISA)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já explorado no mundo real -&gt; sobe nível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Requisito vira portão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Aceite + 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7CB342"/>
                </a:solidFill>
                <a:latin typeface="Open Sans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2D7A3D"/>
                </a:solidFill>
                <a:latin typeface="Open Sans"/>
              </a:rPr>
              <a:t>Requisito + critério de aceite (BDD) + item na Definition of Done = segurança que não se 'esquece' no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16161"/>
                </a:solidFill>
                <a:latin typeface="Open Sans"/>
              </a:rPr>
              <a:t>Da especificação à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53212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Especificação e priorização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Catálogo: </a:t>
            </a:r>
            <a:r>
              <a:rPr sz="1800">
                <a:solidFill>
                  <a:srgbClr val="212121"/>
                </a:solidFill>
                <a:latin typeface="Open Sans"/>
              </a:rPr>
              <a:t>consolide RFS + RGS, identificados como tais.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Representações: </a:t>
            </a:r>
            <a:r>
              <a:rPr sz="1800">
                <a:solidFill>
                  <a:srgbClr val="212121"/>
                </a:solidFill>
                <a:latin typeface="Open Sans"/>
              </a:rPr>
              <a:t>≥2 por P0 (shall/EARS/BDD/ASVS/policy-as-code).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Priorize: </a:t>
            </a:r>
            <a:r>
              <a:rPr sz="1800">
                <a:solidFill>
                  <a:srgbClr val="212121"/>
                </a:solidFill>
                <a:latin typeface="Open Sans"/>
              </a:rPr>
              <a:t>CVSS/DREAD + EPSS/KEV -&gt; P0/P1/P2.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Fail-secure: </a:t>
            </a:r>
            <a:r>
              <a:rPr sz="1800">
                <a:solidFill>
                  <a:srgbClr val="212121"/>
                </a:solidFill>
                <a:latin typeface="Open Sans"/>
              </a:rPr>
              <a:t>defina o comportamento sob falha de cada controle.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DoD segura: </a:t>
            </a:r>
            <a:r>
              <a:rPr sz="1800">
                <a:solidFill>
                  <a:srgbClr val="212121"/>
                </a:solidFill>
                <a:latin typeface="Open Sans"/>
              </a:rPr>
              <a:t>critérios que fecham uma funcionalidade.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