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Aula 5. Antes de codar, decidimos COMO os controles serão construídos: princípios de design seguro, priorização por risco e a Definition of Done. Entregável: catálogo consolidado (RFS+RGS) + priorização + DoD (Fase 3).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Estes princípios atravessaram 50 anos e fundamentam Microsoft SDL, NIST SSDF e CSSLP. Os mais usados no dia a dia: fail-safe defaults (deny by default), complete mediation (verifique SEMPRE — não confie que 'já autenticou antes') e least privilege. No VidaPlus, o IDOR viola complete mediation; o banco com usuário root viola least privilege.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Falhas VÃO acontecer — a pergunta de design é: para qual estado o sistema recai? Em software de segurança (autenticação, acesso a dado), a resposta é Fail Secure: na dúvida, NEGUE. Fail Safe (na dúvida, preserve vidas) é para sistemas físicos. No VidaPlus, todo controle deve ser fail-secure: erro/timeout -&gt; acesso negado.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Recursos são finitos: prioriza-se pelo risco = probabilidade × impacto. CVSS pontua a gravidade; DREAD é qualitativo (cuidado com a subjetividade — documente os critérios); EPSS e KEV trazem o contexto REAL de exploração. Um requisito que mitiga risco crítico é P0 e bloqueia o release. Regra: item no KEV promove um nível de prioridade.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 pelo menos duas representações por requisito P0: uma para ESPECIFICAR (shall/EARS) e uma para VERIFICAR (BDD/policy-as-code). O BDD é especialmente útil: transforma o requisito num teste executável no CI — requisito e teste viram a mesma coisa. Combine sempre: um diagrama para enxergar, uma frase para especificar, um teste para verificar.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DoD segura é a lista de itens que precisam estar verdes para uma funcionalidade ser considerada 'pronta': threat model atualizado, SAST/SCA sem críticos, testes de authn/authz passando, sem segredos no código, logging de eventos, requisitos ASVS verificados. É o que impede a segurança de 'cair' na pressa do release.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Nesta fase o grupo consolida tudo das aulas anteriores num catálogo priorizado e define a DoD do projeto. É a ponte entre 'saber o que fazer' e 'começar a corrigir' (Aula 6). Aqui também se escolhe qual(is) controle(s) serão a prova de conceito da Fase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92608"/>
            <a:ext cx="3909060" cy="8686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2331720"/>
            <a:ext cx="112471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5400" b="1" i="0">
                <a:solidFill>
                  <a:srgbClr val="7CB342"/>
                </a:solidFill>
                <a:latin typeface="Open Sans"/>
              </a:rPr>
              <a:t>Aula 5 — Projeto Seguro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520440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 i="0">
                <a:solidFill>
                  <a:srgbClr val="2D7A3D"/>
                </a:solidFill>
                <a:latin typeface="Open Sans"/>
              </a:rPr>
              <a:t>Princípios, priorização por risco e DoD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20624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0" i="1">
                <a:solidFill>
                  <a:srgbClr val="616161"/>
                </a:solidFill>
                <a:latin typeface="Open Sans"/>
              </a:rPr>
              <a:t>Secure Design · Risk Prioritization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5184648" y="4800600"/>
            <a:ext cx="1828800" cy="2540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525780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616161"/>
                </a:solidFill>
                <a:latin typeface="Open Sans"/>
              </a:rPr>
              <a:t>TADS · Segurança em Sistemas Computacionais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85216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7CB342"/>
                </a:solidFill>
                <a:latin typeface="Open Sans"/>
              </a:rPr>
              <a:t>Prof. Dr. Alex Mulattieri Suarez Orozco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2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7CB342"/>
                </a:solidFill>
                <a:latin typeface="Open Sans"/>
              </a:rPr>
              <a:t>PARTE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834640"/>
            <a:ext cx="112471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6000" b="1" i="0">
                <a:solidFill>
                  <a:srgbClr val="FFFFFF"/>
                </a:solidFill>
                <a:latin typeface="Open Sans"/>
              </a:rPr>
              <a:t>Princípios de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29768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0" i="1">
                <a:solidFill>
                  <a:srgbClr val="CCD7C0"/>
                </a:solidFill>
                <a:latin typeface="Open Sans"/>
              </a:rPr>
              <a:t>A base atemporal de todo controle</a:t>
            </a:r>
          </a:p>
        </p:txBody>
      </p:sp>
      <p:sp>
        <p:nvSpPr>
          <p:cNvPr id="6" name="Rectangle 5"/>
          <p:cNvSpPr/>
          <p:nvPr/>
        </p:nvSpPr>
        <p:spPr>
          <a:xfrm>
            <a:off x="5184648" y="4983480"/>
            <a:ext cx="1828800" cy="2540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Saltzer &amp; Schroeder (1975)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6 dos 8 princípios que fundamentam o design seguro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463040"/>
            <a:ext cx="3703320" cy="246888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943100" y="1664208"/>
            <a:ext cx="640080" cy="640080"/>
          </a:xfrm>
          <a:prstGeom prst="ellipse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943100" y="1755648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Open Sans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377440"/>
            <a:ext cx="3337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2D7A3D"/>
                </a:solidFill>
                <a:latin typeface="Open Sans"/>
              </a:rPr>
              <a:t>Fail-safe defaults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880360"/>
            <a:ext cx="32461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o padrão é NEGAR; permissão é decisão explícita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16552" y="1463040"/>
            <a:ext cx="3703320" cy="246888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948172" y="1664208"/>
            <a:ext cx="640080" cy="640080"/>
          </a:xfrm>
          <a:prstGeom prst="ellipse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8172" y="1755648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Open Sans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99432" y="2377440"/>
            <a:ext cx="3337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2D7A3D"/>
                </a:solidFill>
                <a:latin typeface="Open Sans"/>
              </a:rPr>
              <a:t>Complete mediation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45152" y="2880360"/>
            <a:ext cx="32461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toda requisição é verificada; sem cache de autorização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421624" y="1463040"/>
            <a:ext cx="3703320" cy="246888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953244" y="1664208"/>
            <a:ext cx="640080" cy="640080"/>
          </a:xfrm>
          <a:prstGeom prst="ellipse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953244" y="1755648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Open Sans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04504" y="2377440"/>
            <a:ext cx="3337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2D7A3D"/>
                </a:solidFill>
                <a:latin typeface="Open Sans"/>
              </a:rPr>
              <a:t>Least privilege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50224" y="2880360"/>
            <a:ext cx="32461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cada identidade só com o mínimo necessário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1480" y="4023360"/>
            <a:ext cx="3703320" cy="246888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943100" y="4224528"/>
            <a:ext cx="640080" cy="640080"/>
          </a:xfrm>
          <a:prstGeom prst="ellipse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943100" y="4315968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Open Sans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4937760"/>
            <a:ext cx="3337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2D7A3D"/>
                </a:solidFill>
                <a:latin typeface="Open Sans"/>
              </a:rPr>
              <a:t>Economy of mechanism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5440680"/>
            <a:ext cx="32461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design simples e pequeno = menos bugs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416552" y="4023360"/>
            <a:ext cx="3703320" cy="246888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5948172" y="4224528"/>
            <a:ext cx="640080" cy="640080"/>
          </a:xfrm>
          <a:prstGeom prst="ellipse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48172" y="4315968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Open Sans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99432" y="4937760"/>
            <a:ext cx="3337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2D7A3D"/>
                </a:solidFill>
                <a:latin typeface="Open Sans"/>
              </a:rPr>
              <a:t>Open design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45152" y="5440680"/>
            <a:ext cx="32461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segurança não depende de obscuridade (Kerckhoffs)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421624" y="4023360"/>
            <a:ext cx="3703320" cy="246888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9953244" y="4224528"/>
            <a:ext cx="640080" cy="640080"/>
          </a:xfrm>
          <a:prstGeom prst="ellipse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953244" y="4315968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Open Sans"/>
              </a:rPr>
              <a:t>06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604504" y="4937760"/>
            <a:ext cx="3337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2D7A3D"/>
                </a:solidFill>
                <a:latin typeface="Open Sans"/>
              </a:rPr>
              <a:t>Separation of privilege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50224" y="5440680"/>
            <a:ext cx="32461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ações críticas exigem mais de uma condição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16161"/>
                </a:solidFill>
                <a:latin typeface="Open Sans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Fail Secure × Fail Safe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Para qual estado o sistema vai ao falhar?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554480"/>
            <a:ext cx="5486400" cy="640080"/>
          </a:xfrm>
          <a:prstGeom prst="roundRect">
            <a:avLst/>
          </a:prstGeom>
          <a:solidFill>
            <a:srgbClr val="424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664208"/>
            <a:ext cx="5486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FFFFFF"/>
                </a:solidFill>
                <a:latin typeface="Open Sans"/>
              </a:rPr>
              <a:t>Fail Secure — 'negar'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2240280"/>
            <a:ext cx="5486400" cy="416052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423160"/>
            <a:ext cx="50292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600" b="1">
                <a:solidFill>
                  <a:srgbClr val="B71C1C"/>
                </a:solidFill>
                <a:latin typeface="Open Sans"/>
              </a:rPr>
              <a:t>✗  </a:t>
            </a:r>
            <a:r>
              <a:rPr sz="1500">
                <a:solidFill>
                  <a:srgbClr val="212121"/>
                </a:solidFill>
                <a:latin typeface="Open Sans"/>
              </a:rPr>
              <a:t>Autenticação.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600" b="1">
                <a:solidFill>
                  <a:srgbClr val="B71C1C"/>
                </a:solidFill>
                <a:latin typeface="Open Sans"/>
              </a:rPr>
              <a:t>✗  </a:t>
            </a:r>
            <a:r>
              <a:rPr sz="1500">
                <a:solidFill>
                  <a:srgbClr val="212121"/>
                </a:solidFill>
                <a:latin typeface="Open Sans"/>
              </a:rPr>
              <a:t>Transação financeira.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600" b="1">
                <a:solidFill>
                  <a:srgbClr val="B71C1C"/>
                </a:solidFill>
                <a:latin typeface="Open Sans"/>
              </a:rPr>
              <a:t>✗  </a:t>
            </a:r>
            <a:r>
              <a:rPr sz="1500">
                <a:solidFill>
                  <a:srgbClr val="212121"/>
                </a:solidFill>
                <a:latin typeface="Open Sans"/>
              </a:rPr>
              <a:t>Controle de acesso a dados.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600" b="1">
                <a:solidFill>
                  <a:srgbClr val="B71C1C"/>
                </a:solidFill>
                <a:latin typeface="Open Sans"/>
              </a:rPr>
              <a:t>✗  </a:t>
            </a:r>
            <a:r>
              <a:rPr sz="1500">
                <a:solidFill>
                  <a:srgbClr val="212121"/>
                </a:solidFill>
                <a:latin typeface="Open Sans"/>
              </a:rPr>
              <a:t>Firewall com regra default-deny.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554480"/>
            <a:ext cx="5486400" cy="640080"/>
          </a:xfrm>
          <a:prstGeom prst="round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9360" y="1664208"/>
            <a:ext cx="5486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FFFFFF"/>
                </a:solidFill>
                <a:latin typeface="Open Sans"/>
              </a:rPr>
              <a:t>Fail Safe — 'preservar vidas'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60" y="2240280"/>
            <a:ext cx="5486400" cy="416052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0" y="2423160"/>
            <a:ext cx="50292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600" b="1">
                <a:solidFill>
                  <a:srgbClr val="7CB342"/>
                </a:solidFill>
                <a:latin typeface="Open Sans"/>
              </a:rPr>
              <a:t>✓  </a:t>
            </a:r>
            <a:r>
              <a:rPr sz="1500">
                <a:solidFill>
                  <a:srgbClr val="212121"/>
                </a:solidFill>
                <a:latin typeface="Open Sans"/>
              </a:rPr>
              <a:t>Sistema de incêndio (a porta abre).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600" b="1">
                <a:solidFill>
                  <a:srgbClr val="7CB342"/>
                </a:solidFill>
                <a:latin typeface="Open Sans"/>
              </a:rPr>
              <a:t>✓  </a:t>
            </a:r>
            <a:r>
              <a:rPr sz="1500">
                <a:solidFill>
                  <a:srgbClr val="212121"/>
                </a:solidFill>
                <a:latin typeface="Open Sans"/>
              </a:rPr>
              <a:t>Equipamento médico.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600" b="1">
                <a:solidFill>
                  <a:srgbClr val="7CB342"/>
                </a:solidFill>
                <a:latin typeface="Open Sans"/>
              </a:rPr>
              <a:t>✓  </a:t>
            </a:r>
            <a:r>
              <a:rPr sz="1500">
                <a:solidFill>
                  <a:srgbClr val="212121"/>
                </a:solidFill>
                <a:latin typeface="Open Sans"/>
              </a:rPr>
              <a:t>Semáforo (vai a amarelo piscante).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600" b="1">
                <a:solidFill>
                  <a:srgbClr val="7CB342"/>
                </a:solidFill>
                <a:latin typeface="Open Sans"/>
              </a:rPr>
              <a:t>✓  </a:t>
            </a:r>
            <a:r>
              <a:rPr sz="1500">
                <a:solidFill>
                  <a:srgbClr val="212121"/>
                </a:solidFill>
                <a:latin typeface="Open Sans"/>
              </a:rPr>
              <a:t>Elevador (desce ao térreo).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16161"/>
                </a:solidFill>
                <a:latin typeface="Open Sans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2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7CB342"/>
                </a:solidFill>
                <a:latin typeface="Open Sans"/>
              </a:rPr>
              <a:t>PARTE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834640"/>
            <a:ext cx="112471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6000" b="1" i="0">
                <a:solidFill>
                  <a:srgbClr val="FFFFFF"/>
                </a:solidFill>
                <a:latin typeface="Open Sans"/>
              </a:rPr>
              <a:t>Priorização por risco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29768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0" i="1">
                <a:solidFill>
                  <a:srgbClr val="CCD7C0"/>
                </a:solidFill>
                <a:latin typeface="Open Sans"/>
              </a:rPr>
              <a:t>Risco = probabilidade × impacto</a:t>
            </a:r>
          </a:p>
        </p:txBody>
      </p:sp>
      <p:sp>
        <p:nvSpPr>
          <p:cNvPr id="6" name="Rectangle 5"/>
          <p:cNvSpPr/>
          <p:nvPr/>
        </p:nvSpPr>
        <p:spPr>
          <a:xfrm>
            <a:off x="5184648" y="4983480"/>
            <a:ext cx="1828800" cy="2540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Métodos de priorização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Traduzir risco em P0/P1/P2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463040"/>
            <a:ext cx="5468112" cy="242316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2D7A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3736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2D7A3D"/>
                </a:solidFill>
                <a:latin typeface="Open Sans"/>
              </a:rPr>
              <a:t>CVSS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377440"/>
            <a:ext cx="47548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  <a:latin typeface="Open Sans"/>
              </a:rPr>
              <a:t>pontua a vulnerabilidade de 0 a 10 por vetor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463040"/>
            <a:ext cx="5468112" cy="242316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197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0" y="173736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1976D2"/>
                </a:solidFill>
                <a:latin typeface="Open Sans"/>
              </a:rPr>
              <a:t>DREAD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0" y="2377440"/>
            <a:ext cx="47548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  <a:latin typeface="Open Sans"/>
              </a:rPr>
              <a:t>Damage, Reproducibility, Exploitability, Affected, Discoverability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1480" y="4069080"/>
            <a:ext cx="5468112" cy="242316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E651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434340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E65100"/>
                </a:solidFill>
                <a:latin typeface="Open Sans"/>
              </a:rPr>
              <a:t>EPSS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983480"/>
            <a:ext cx="47548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  <a:latin typeface="Open Sans"/>
              </a:rPr>
              <a:t>probabilidade de ser explorada em 30 dias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4069080"/>
            <a:ext cx="5468112" cy="242316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75120" y="434340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B71C1C"/>
                </a:solidFill>
                <a:latin typeface="Open Sans"/>
              </a:rPr>
              <a:t>KEV (CISA)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0" y="4983480"/>
            <a:ext cx="47548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  <a:latin typeface="Open Sans"/>
              </a:rPr>
              <a:t>já explorada no mundo real -&gt; sobe um nível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16161"/>
                </a:solidFill>
                <a:latin typeface="Open Sans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Representações de um requisito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A mesma exigência, várias formas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463040"/>
            <a:ext cx="11384280" cy="5029200"/>
          </a:xfrm>
          <a:prstGeom prst="roundRect">
            <a:avLst/>
          </a:prstGeom>
          <a:solidFill>
            <a:srgbClr val="F5F5F5"/>
          </a:solidFill>
          <a:ln w="15875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78308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Declaração (shall): </a:t>
            </a:r>
            <a:r>
              <a:rPr sz="1800">
                <a:solidFill>
                  <a:srgbClr val="212121"/>
                </a:solidFill>
                <a:latin typeface="Open Sans"/>
              </a:rPr>
              <a:t>'O sistema deve cifrar dados de saúde com AES-256.'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EARS: </a:t>
            </a:r>
            <a:r>
              <a:rPr sz="1800">
                <a:solidFill>
                  <a:srgbClr val="212121"/>
                </a:solidFill>
                <a:latin typeface="Open Sans"/>
              </a:rPr>
              <a:t>'SE 5 falhas em 15 min, ENTÃO bloquear a conta.'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BDD/Gherkin: </a:t>
            </a:r>
            <a:r>
              <a:rPr sz="1800">
                <a:solidFill>
                  <a:srgbClr val="212121"/>
                </a:solidFill>
                <a:latin typeface="Open Sans"/>
              </a:rPr>
              <a:t>'Dado A autenticado, Quando GET /exames/{id_B}, Então 403.'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Item de catálogo: </a:t>
            </a:r>
            <a:r>
              <a:rPr sz="1800">
                <a:solidFill>
                  <a:srgbClr val="212121"/>
                </a:solidFill>
                <a:latin typeface="Open Sans"/>
              </a:rPr>
              <a:t>REQ-AUTH-07 ≡ OWASP ASVS V2.1.1.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Policy as code: </a:t>
            </a:r>
            <a:r>
              <a:rPr sz="1800">
                <a:solidFill>
                  <a:srgbClr val="212121"/>
                </a:solidFill>
                <a:latin typeface="Open Sans"/>
              </a:rPr>
              <a:t>deny[msg] { input.owner != input.user_id }.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16161"/>
                </a:solidFill>
                <a:latin typeface="Open Sans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Definition of Done segura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Onde o requisito vira portão de qualidade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37360"/>
            <a:ext cx="1371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0" b="1" i="0">
                <a:solidFill>
                  <a:srgbClr val="7CB342"/>
                </a:solidFill>
                <a:latin typeface="Open Sans"/>
              </a:rPr>
              <a:t>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2194560"/>
            <a:ext cx="960120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0" i="1">
                <a:solidFill>
                  <a:srgbClr val="2D7A3D"/>
                </a:solidFill>
                <a:latin typeface="Open Sans"/>
              </a:rPr>
              <a:t>Requisito + critério de aceite (BDD) + item na Definition of Done = segurança que não se 'esquece' no release.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4937760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616161"/>
                </a:solidFill>
                <a:latin typeface="Open Sans"/>
              </a:rPr>
              <a:t>Da especificação à verificação</a:t>
            </a:r>
          </a:p>
        </p:txBody>
      </p:sp>
      <p:sp>
        <p:nvSpPr>
          <p:cNvPr id="8" name="Rectangle 7"/>
          <p:cNvSpPr/>
          <p:nvPr/>
        </p:nvSpPr>
        <p:spPr>
          <a:xfrm>
            <a:off x="1828800" y="5532120"/>
            <a:ext cx="1828800" cy="2540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16161"/>
                </a:solidFill>
                <a:latin typeface="Open Sans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2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7CB342"/>
                </a:solidFill>
                <a:latin typeface="Open Sans"/>
              </a:rPr>
              <a:t>PARTE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834640"/>
            <a:ext cx="112471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6000" b="1" i="0">
                <a:solidFill>
                  <a:srgbClr val="FFFFFF"/>
                </a:solidFill>
                <a:latin typeface="Open Sans"/>
              </a:rPr>
              <a:t>No VidaPlus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29768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0" i="1">
                <a:solidFill>
                  <a:srgbClr val="CCD7C0"/>
                </a:solidFill>
                <a:latin typeface="Open Sans"/>
              </a:rPr>
              <a:t>A etapa desta semana (Fase 3)</a:t>
            </a:r>
          </a:p>
        </p:txBody>
      </p:sp>
      <p:sp>
        <p:nvSpPr>
          <p:cNvPr id="6" name="Rectangle 5"/>
          <p:cNvSpPr/>
          <p:nvPr/>
        </p:nvSpPr>
        <p:spPr>
          <a:xfrm>
            <a:off x="5184648" y="4983480"/>
            <a:ext cx="1828800" cy="2540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Entregável da Fase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Especificação e priorização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463040"/>
            <a:ext cx="11384280" cy="5029200"/>
          </a:xfrm>
          <a:prstGeom prst="roundRect">
            <a:avLst/>
          </a:prstGeom>
          <a:solidFill>
            <a:srgbClr val="F5F5F5"/>
          </a:solidFill>
          <a:ln w="15875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78308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Catálogo: </a:t>
            </a:r>
            <a:r>
              <a:rPr sz="1800">
                <a:solidFill>
                  <a:srgbClr val="212121"/>
                </a:solidFill>
                <a:latin typeface="Open Sans"/>
              </a:rPr>
              <a:t>consolide RFS + RGS, identificados como tais.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Representações: </a:t>
            </a:r>
            <a:r>
              <a:rPr sz="1800">
                <a:solidFill>
                  <a:srgbClr val="212121"/>
                </a:solidFill>
                <a:latin typeface="Open Sans"/>
              </a:rPr>
              <a:t>≥2 por requisito P0 (shall/EARS/BDD/ASVS/policy-as-code).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Priorize: </a:t>
            </a:r>
            <a:r>
              <a:rPr sz="1800">
                <a:solidFill>
                  <a:srgbClr val="212121"/>
                </a:solidFill>
                <a:latin typeface="Open Sans"/>
              </a:rPr>
              <a:t>CVSS/DREAD + EPSS/KEV -&gt; P0/P1/P2.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Fail-secure: </a:t>
            </a:r>
            <a:r>
              <a:rPr sz="1800">
                <a:solidFill>
                  <a:srgbClr val="212121"/>
                </a:solidFill>
                <a:latin typeface="Open Sans"/>
              </a:rPr>
              <a:t>defina o comportamento sob falha de cada controle.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DoD segura: </a:t>
            </a:r>
            <a:r>
              <a:rPr sz="1800">
                <a:solidFill>
                  <a:srgbClr val="212121"/>
                </a:solidFill>
                <a:latin typeface="Open Sans"/>
              </a:rPr>
              <a:t>escreva os critérios que fecham uma funcionalidade.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16161"/>
                </a:solidFill>
                <a:latin typeface="Open Sans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2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42232" y="548640"/>
            <a:ext cx="3909060" cy="8686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2194560"/>
            <a:ext cx="112471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800" b="1" i="0">
                <a:solidFill>
                  <a:srgbClr val="7CB342"/>
                </a:solidFill>
                <a:latin typeface="Open Sans"/>
              </a:rPr>
              <a:t>Perguntas?</a:t>
            </a:r>
          </a:p>
        </p:txBody>
      </p:sp>
      <p:sp>
        <p:nvSpPr>
          <p:cNvPr id="5" name="Rectangle 4"/>
          <p:cNvSpPr/>
          <p:nvPr/>
        </p:nvSpPr>
        <p:spPr>
          <a:xfrm>
            <a:off x="5184648" y="3977639"/>
            <a:ext cx="1828800" cy="2540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429768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FFFFFF"/>
                </a:solidFill>
                <a:latin typeface="Open Sans"/>
              </a:rPr>
              <a:t>Prof. Dr. Alex Mulattieri Suarez Orozco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80060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0" i="1">
                <a:solidFill>
                  <a:srgbClr val="CCD7C0"/>
                </a:solidFill>
                <a:latin typeface="Open Sans"/>
              </a:rPr>
              <a:t>alexorozco@ifsul.edu.br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94360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CCD7C0"/>
                </a:solidFill>
                <a:latin typeface="Open Sans"/>
              </a:rPr>
              <a:t>IFSul · Câmpus Sapucaia do Sul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